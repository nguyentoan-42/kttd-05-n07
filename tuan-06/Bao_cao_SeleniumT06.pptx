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al Bold" charset="1" panose="020B0704020202020204"/>
      <p:regular r:id="rId18"/>
    </p:embeddedFont>
    <p:embeddedFont>
      <p:font typeface="Arial" charset="1" panose="020B0604020202020204"/>
      <p:regular r:id="rId19"/>
    </p:embeddedFont>
    <p:embeddedFont>
      <p:font typeface="DM Sans" charset="1" panose="00000000000000000000"/>
      <p:regular r:id="rId20"/>
    </p:embeddedFont>
    <p:embeddedFont>
      <p:font typeface="Open Sauce" charset="1" panose="00000500000000000000"/>
      <p:regular r:id="rId21"/>
    </p:embeddedFont>
    <p:embeddedFont>
      <p:font typeface="Open Sauce Bold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png" Type="http://schemas.openxmlformats.org/officeDocument/2006/relationships/image"/><Relationship Id="rId12" Target="../media/image14.png" Type="http://schemas.openxmlformats.org/officeDocument/2006/relationships/image"/><Relationship Id="rId13" Target="../media/image15.png" Type="http://schemas.openxmlformats.org/officeDocument/2006/relationships/image"/><Relationship Id="rId14" Target="../media/image16.png" Type="http://schemas.openxmlformats.org/officeDocument/2006/relationships/image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png" Type="http://schemas.openxmlformats.org/officeDocument/2006/relationships/image"/><Relationship Id="rId12" Target="../media/image32.png" Type="http://schemas.openxmlformats.org/officeDocument/2006/relationships/image"/><Relationship Id="rId13" Target="../media/image33.png" Type="http://schemas.openxmlformats.org/officeDocument/2006/relationships/image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11" Target="../media/image43.png" Type="http://schemas.openxmlformats.org/officeDocument/2006/relationships/image"/><Relationship Id="rId12" Target="../media/image44.png" Type="http://schemas.openxmlformats.org/officeDocument/2006/relationships/image"/><Relationship Id="rId13" Target="../media/image45.png" Type="http://schemas.openxmlformats.org/officeDocument/2006/relationships/image"/><Relationship Id="rId14" Target="../media/image46.png" Type="http://schemas.openxmlformats.org/officeDocument/2006/relationships/image"/><Relationship Id="rId15" Target="../media/image47.png" Type="http://schemas.openxmlformats.org/officeDocument/2006/relationships/image"/><Relationship Id="rId2" Target="../media/image34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png" Type="http://schemas.openxmlformats.org/officeDocument/2006/relationships/image"/><Relationship Id="rId2" Target="../media/image34.png" Type="http://schemas.openxmlformats.org/officeDocument/2006/relationships/image"/><Relationship Id="rId3" Target="../media/image36.png" Type="http://schemas.openxmlformats.org/officeDocument/2006/relationships/image"/><Relationship Id="rId4" Target="../media/image37.png" Type="http://schemas.openxmlformats.org/officeDocument/2006/relationships/image"/><Relationship Id="rId5" Target="../media/image39.png" Type="http://schemas.openxmlformats.org/officeDocument/2006/relationships/image"/><Relationship Id="rId6" Target="../media/image40.pn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1.png" Type="http://schemas.openxmlformats.org/officeDocument/2006/relationships/image"/><Relationship Id="rId11" Target="../media/image62.png" Type="http://schemas.openxmlformats.org/officeDocument/2006/relationships/image"/><Relationship Id="rId12" Target="../media/image63.svg" Type="http://schemas.openxmlformats.org/officeDocument/2006/relationships/image"/><Relationship Id="rId2" Target="../media/image53.png" Type="http://schemas.openxmlformats.org/officeDocument/2006/relationships/image"/><Relationship Id="rId3" Target="../media/image54.png" Type="http://schemas.openxmlformats.org/officeDocument/2006/relationships/image"/><Relationship Id="rId4" Target="../media/image55.png" Type="http://schemas.openxmlformats.org/officeDocument/2006/relationships/image"/><Relationship Id="rId5" Target="../media/image56.png" Type="http://schemas.openxmlformats.org/officeDocument/2006/relationships/image"/><Relationship Id="rId6" Target="../media/image57.png" Type="http://schemas.openxmlformats.org/officeDocument/2006/relationships/image"/><Relationship Id="rId7" Target="../media/image58.png" Type="http://schemas.openxmlformats.org/officeDocument/2006/relationships/image"/><Relationship Id="rId8" Target="../media/image59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png" Type="http://schemas.openxmlformats.org/officeDocument/2006/relationships/image"/><Relationship Id="rId3" Target="../media/image65.png" Type="http://schemas.openxmlformats.org/officeDocument/2006/relationships/image"/><Relationship Id="rId4" Target="../media/image66.png" Type="http://schemas.openxmlformats.org/officeDocument/2006/relationships/image"/><Relationship Id="rId5" Target="../media/image6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png" Type="http://schemas.openxmlformats.org/officeDocument/2006/relationships/image"/><Relationship Id="rId3" Target="../media/image65.png" Type="http://schemas.openxmlformats.org/officeDocument/2006/relationships/image"/><Relationship Id="rId4" Target="../media/image68.png" Type="http://schemas.openxmlformats.org/officeDocument/2006/relationships/image"/><Relationship Id="rId5" Target="../media/image6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png" Type="http://schemas.openxmlformats.org/officeDocument/2006/relationships/image"/><Relationship Id="rId3" Target="../media/image65.png" Type="http://schemas.openxmlformats.org/officeDocument/2006/relationships/image"/><Relationship Id="rId4" Target="../media/image7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7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2.png" Type="http://schemas.openxmlformats.org/officeDocument/2006/relationships/image"/><Relationship Id="rId3" Target="../media/image7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30643" y="-2342321"/>
            <a:ext cx="20349285" cy="12953462"/>
          </a:xfrm>
          <a:custGeom>
            <a:avLst/>
            <a:gdLst/>
            <a:ahLst/>
            <a:cxnLst/>
            <a:rect r="r" b="b" t="t" l="l"/>
            <a:pathLst>
              <a:path h="12953462" w="20349285">
                <a:moveTo>
                  <a:pt x="0" y="0"/>
                </a:moveTo>
                <a:lnTo>
                  <a:pt x="20349286" y="0"/>
                </a:lnTo>
                <a:lnTo>
                  <a:pt x="20349286" y="12953463"/>
                </a:lnTo>
                <a:lnTo>
                  <a:pt x="0" y="12953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7677" r="0" b="-1767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4979" y="4019624"/>
            <a:ext cx="1750048" cy="229572"/>
          </a:xfrm>
          <a:custGeom>
            <a:avLst/>
            <a:gdLst/>
            <a:ahLst/>
            <a:cxnLst/>
            <a:rect r="r" b="b" t="t" l="l"/>
            <a:pathLst>
              <a:path h="229572" w="1750048">
                <a:moveTo>
                  <a:pt x="0" y="0"/>
                </a:moveTo>
                <a:lnTo>
                  <a:pt x="1750048" y="0"/>
                </a:lnTo>
                <a:lnTo>
                  <a:pt x="175004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23168" y="1974961"/>
            <a:ext cx="7069656" cy="899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49"/>
              </a:lnSpc>
            </a:pPr>
            <a:r>
              <a:rPr lang="en-US" b="true" sz="6549" spc="-131">
                <a:solidFill>
                  <a:srgbClr val="F8F8F8"/>
                </a:solidFill>
                <a:latin typeface="Arial Bold"/>
                <a:ea typeface="Arial Bold"/>
                <a:cs typeface="Arial Bold"/>
                <a:sym typeface="Arial Bold"/>
              </a:rPr>
              <a:t>NHIỀU CỬA SỔ &amp;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74979" y="2968182"/>
            <a:ext cx="8346866" cy="899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49"/>
              </a:lnSpc>
            </a:pPr>
            <a:r>
              <a:rPr lang="en-US" b="true" sz="6549" spc="-131">
                <a:solidFill>
                  <a:srgbClr val="1D7DEF"/>
                </a:solidFill>
                <a:latin typeface="Arial Bold"/>
                <a:ea typeface="Arial Bold"/>
                <a:cs typeface="Arial Bold"/>
                <a:sym typeface="Arial Bold"/>
              </a:rPr>
              <a:t>FRAME LỒNG NHAU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3168" y="6142627"/>
            <a:ext cx="5045930" cy="46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3480">
                <a:solidFill>
                  <a:srgbClr val="F8F8F8"/>
                </a:solidFill>
                <a:latin typeface="Arial"/>
                <a:ea typeface="Arial"/>
                <a:cs typeface="Arial"/>
                <a:sym typeface="Arial"/>
              </a:rPr>
              <a:t>Selenium + pytest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6659381"/>
            <a:ext cx="1755691" cy="40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999" spc="-60" b="true">
                <a:solidFill>
                  <a:srgbClr val="1D7DEF"/>
                </a:solidFill>
                <a:latin typeface="Arial Bold"/>
                <a:ea typeface="Arial Bold"/>
                <a:cs typeface="Arial Bold"/>
                <a:sym typeface="Arial Bold"/>
              </a:rPr>
              <a:t>Nhóm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7417004"/>
            <a:ext cx="1898339" cy="769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6"/>
              </a:lnSpc>
            </a:pPr>
            <a:r>
              <a:rPr lang="en-US" sz="2946" spc="-58" b="true">
                <a:solidFill>
                  <a:srgbClr val="1D7DEF"/>
                </a:solidFill>
                <a:latin typeface="Arial Bold"/>
                <a:ea typeface="Arial Bold"/>
                <a:cs typeface="Arial Bold"/>
                <a:sym typeface="Arial Bold"/>
              </a:rPr>
              <a:t>Thành viên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756792" y="6640331"/>
            <a:ext cx="2588840" cy="383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5"/>
              </a:lnSpc>
            </a:pPr>
            <a:r>
              <a:rPr lang="en-US" sz="2705" b="true">
                <a:solidFill>
                  <a:srgbClr val="F8F8F8"/>
                </a:solidFill>
                <a:latin typeface="Arial Bold"/>
                <a:ea typeface="Arial Bold"/>
                <a:cs typeface="Arial Bold"/>
                <a:sym typeface="Arial Bold"/>
              </a:rPr>
              <a:t>W4 - N07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56792" y="7283654"/>
            <a:ext cx="5531939" cy="2563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8"/>
              </a:lnSpc>
            </a:pPr>
            <a:r>
              <a:rPr lang="en-US" sz="2705" b="true">
                <a:solidFill>
                  <a:srgbClr val="F8F8F8"/>
                </a:solidFill>
                <a:latin typeface="Arial Bold"/>
                <a:ea typeface="Arial Bold"/>
                <a:cs typeface="Arial Bold"/>
                <a:sym typeface="Arial Bold"/>
              </a:rPr>
              <a:t>Nguyễn Tiến Toàn - A51878</a:t>
            </a:r>
          </a:p>
          <a:p>
            <a:pPr algn="l">
              <a:lnSpc>
                <a:spcPts val="4058"/>
              </a:lnSpc>
            </a:pPr>
            <a:r>
              <a:rPr lang="en-US" sz="2705" b="true">
                <a:solidFill>
                  <a:srgbClr val="F8F8F8"/>
                </a:solidFill>
                <a:latin typeface="Arial Bold"/>
                <a:ea typeface="Arial Bold"/>
                <a:cs typeface="Arial Bold"/>
                <a:sym typeface="Arial Bold"/>
              </a:rPr>
              <a:t>Nguyễn Trung Đức - A52093</a:t>
            </a:r>
          </a:p>
          <a:p>
            <a:pPr algn="l">
              <a:lnSpc>
                <a:spcPts val="4058"/>
              </a:lnSpc>
            </a:pPr>
            <a:r>
              <a:rPr lang="en-US" sz="2705" b="true">
                <a:solidFill>
                  <a:srgbClr val="F8F8F8"/>
                </a:solidFill>
                <a:latin typeface="Arial Bold"/>
                <a:ea typeface="Arial Bold"/>
                <a:cs typeface="Arial Bold"/>
                <a:sym typeface="Arial Bold"/>
              </a:rPr>
              <a:t>Đào Quang Khải - A51922</a:t>
            </a:r>
          </a:p>
          <a:p>
            <a:pPr algn="l">
              <a:lnSpc>
                <a:spcPts val="4058"/>
              </a:lnSpc>
            </a:pPr>
            <a:r>
              <a:rPr lang="en-US" sz="2705" b="true">
                <a:solidFill>
                  <a:srgbClr val="F8F8F8"/>
                </a:solidFill>
                <a:latin typeface="Arial Bold"/>
                <a:ea typeface="Arial Bold"/>
                <a:cs typeface="Arial Bold"/>
                <a:sym typeface="Arial Bold"/>
              </a:rPr>
              <a:t>Nguyễn Anh Tuấn - A51709</a:t>
            </a:r>
          </a:p>
          <a:p>
            <a:pPr algn="l">
              <a:lnSpc>
                <a:spcPts val="4058"/>
              </a:lnSpc>
            </a:pPr>
            <a:r>
              <a:rPr lang="en-US" sz="2705" b="true">
                <a:solidFill>
                  <a:srgbClr val="F8F8F8"/>
                </a:solidFill>
                <a:latin typeface="Arial Bold"/>
                <a:ea typeface="Arial Bold"/>
                <a:cs typeface="Arial Bold"/>
                <a:sym typeface="Arial Bold"/>
              </a:rPr>
              <a:t>Phạm Bảo Phúc - A52197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4725" y="504010"/>
            <a:ext cx="8015654" cy="2007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9"/>
              </a:lnSpc>
            </a:pPr>
            <a:r>
              <a:rPr lang="en-US" b="true" sz="6108" spc="59">
                <a:solidFill>
                  <a:srgbClr val="0E2346"/>
                </a:solidFill>
                <a:latin typeface="Arial Bold"/>
                <a:ea typeface="Arial Bold"/>
                <a:cs typeface="Arial Bold"/>
                <a:sym typeface="Arial Bold"/>
              </a:rPr>
              <a:t>MỤC TIÊU &amp;</a:t>
            </a:r>
          </a:p>
          <a:p>
            <a:pPr algn="l">
              <a:lnSpc>
                <a:spcPts val="7939"/>
              </a:lnSpc>
            </a:pPr>
            <a:r>
              <a:rPr lang="en-US" b="true" sz="6108" spc="59">
                <a:solidFill>
                  <a:srgbClr val="0E2346"/>
                </a:solidFill>
                <a:latin typeface="Arial Bold"/>
                <a:ea typeface="Arial Bold"/>
                <a:cs typeface="Arial Bold"/>
                <a:sym typeface="Arial Bold"/>
              </a:rPr>
              <a:t>TRANG THỰC HÀNH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2569017"/>
            <a:ext cx="1323474" cy="437279"/>
          </a:xfrm>
          <a:custGeom>
            <a:avLst/>
            <a:gdLst/>
            <a:ahLst/>
            <a:cxnLst/>
            <a:rect r="r" b="b" t="t" l="l"/>
            <a:pathLst>
              <a:path h="437279" w="1323474">
                <a:moveTo>
                  <a:pt x="0" y="0"/>
                </a:moveTo>
                <a:lnTo>
                  <a:pt x="1323474" y="0"/>
                </a:lnTo>
                <a:lnTo>
                  <a:pt x="132347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15257" y="3605080"/>
            <a:ext cx="1954063" cy="422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488" b="true">
                <a:solidFill>
                  <a:srgbClr val="0E76E1"/>
                </a:solidFill>
                <a:latin typeface="Arial Bold"/>
                <a:ea typeface="Arial Bold"/>
                <a:cs typeface="Arial Bold"/>
                <a:sym typeface="Arial Bold"/>
              </a:rPr>
              <a:t>MỤC TIÊU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3407" y="4171856"/>
            <a:ext cx="4705404" cy="841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488">
                <a:solidFill>
                  <a:srgbClr val="0E2346"/>
                </a:solidFill>
                <a:latin typeface="DM Sans"/>
                <a:ea typeface="DM Sans"/>
                <a:cs typeface="DM Sans"/>
                <a:sym typeface="DM Sans"/>
              </a:rPr>
              <a:t>Điều khiển nhiều cửa sổ/tab và</a:t>
            </a:r>
          </a:p>
          <a:p>
            <a:pPr algn="l">
              <a:lnSpc>
                <a:spcPts val="3483"/>
              </a:lnSpc>
            </a:pPr>
            <a:r>
              <a:rPr lang="en-US" sz="2488">
                <a:solidFill>
                  <a:srgbClr val="0E2346"/>
                </a:solidFill>
                <a:latin typeface="DM Sans"/>
                <a:ea typeface="DM Sans"/>
                <a:cs typeface="DM Sans"/>
                <a:sym typeface="DM Sans"/>
              </a:rPr>
              <a:t>frame lồng nhau bằng Selenium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5330" y="5138034"/>
            <a:ext cx="7415828" cy="229572"/>
          </a:xfrm>
          <a:custGeom>
            <a:avLst/>
            <a:gdLst/>
            <a:ahLst/>
            <a:cxnLst/>
            <a:rect r="r" b="b" t="t" l="l"/>
            <a:pathLst>
              <a:path h="229572" w="7415828">
                <a:moveTo>
                  <a:pt x="0" y="0"/>
                </a:moveTo>
                <a:lnTo>
                  <a:pt x="7415828" y="0"/>
                </a:lnTo>
                <a:lnTo>
                  <a:pt x="741582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99398" y="5728659"/>
            <a:ext cx="3613154" cy="422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488" b="true">
                <a:solidFill>
                  <a:srgbClr val="0E76E1"/>
                </a:solidFill>
                <a:latin typeface="Arial Bold"/>
                <a:ea typeface="Arial Bold"/>
                <a:cs typeface="Arial Bold"/>
                <a:sym typeface="Arial Bold"/>
              </a:rPr>
              <a:t>TRANG THỰC HÀNH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5161" y="6295435"/>
            <a:ext cx="6529987" cy="841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488">
                <a:solidFill>
                  <a:srgbClr val="0E2346"/>
                </a:solidFill>
                <a:latin typeface="DM Sans"/>
                <a:ea typeface="DM Sans"/>
                <a:cs typeface="DM Sans"/>
                <a:sym typeface="DM Sans"/>
              </a:rPr>
              <a:t>the-internet.herokuapp.com/windows</a:t>
            </a:r>
          </a:p>
          <a:p>
            <a:pPr algn="l">
              <a:lnSpc>
                <a:spcPts val="3483"/>
              </a:lnSpc>
            </a:pPr>
            <a:r>
              <a:rPr lang="en-US" sz="2488">
                <a:solidFill>
                  <a:srgbClr val="0E2346"/>
                </a:solidFill>
                <a:latin typeface="DM Sans"/>
                <a:ea typeface="DM Sans"/>
                <a:cs typeface="DM Sans"/>
                <a:sym typeface="DM Sans"/>
              </a:rPr>
              <a:t>the-internet.herokuapp.com/nested_frame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5330" y="7499343"/>
            <a:ext cx="7415828" cy="218640"/>
          </a:xfrm>
          <a:custGeom>
            <a:avLst/>
            <a:gdLst/>
            <a:ahLst/>
            <a:cxnLst/>
            <a:rect r="r" b="b" t="t" l="l"/>
            <a:pathLst>
              <a:path h="218640" w="7415828">
                <a:moveTo>
                  <a:pt x="0" y="0"/>
                </a:moveTo>
                <a:lnTo>
                  <a:pt x="7415828" y="0"/>
                </a:lnTo>
                <a:lnTo>
                  <a:pt x="741582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68336" y="8539500"/>
            <a:ext cx="6212499" cy="412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488">
                <a:solidFill>
                  <a:srgbClr val="0E2346"/>
                </a:solidFill>
                <a:latin typeface="DM Sans"/>
                <a:ea typeface="DM Sans"/>
                <a:cs typeface="DM Sans"/>
                <a:sym typeface="DM Sans"/>
              </a:rPr>
              <a:t>3.4, 3.6, 3.7, 7.19, 5.1, 7.1 (selenium-python)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706488" y="634055"/>
            <a:ext cx="9154938" cy="9018889"/>
          </a:xfrm>
          <a:custGeom>
            <a:avLst/>
            <a:gdLst/>
            <a:ahLst/>
            <a:cxnLst/>
            <a:rect r="r" b="b" t="t" l="l"/>
            <a:pathLst>
              <a:path h="9018889" w="9154938">
                <a:moveTo>
                  <a:pt x="0" y="0"/>
                </a:moveTo>
                <a:lnTo>
                  <a:pt x="9154938" y="0"/>
                </a:lnTo>
                <a:lnTo>
                  <a:pt x="9154938" y="9018890"/>
                </a:lnTo>
                <a:lnTo>
                  <a:pt x="0" y="90188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528440" y="1279043"/>
            <a:ext cx="3281340" cy="1727254"/>
          </a:xfrm>
          <a:custGeom>
            <a:avLst/>
            <a:gdLst/>
            <a:ahLst/>
            <a:cxnLst/>
            <a:rect r="r" b="b" t="t" l="l"/>
            <a:pathLst>
              <a:path h="1727254" w="3281340">
                <a:moveTo>
                  <a:pt x="0" y="0"/>
                </a:moveTo>
                <a:lnTo>
                  <a:pt x="3281340" y="0"/>
                </a:lnTo>
                <a:lnTo>
                  <a:pt x="3281340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216969" y="1474511"/>
            <a:ext cx="1904282" cy="1279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b="true" sz="2488">
                <a:solidFill>
                  <a:srgbClr val="E4F4F8"/>
                </a:solidFill>
                <a:latin typeface="Arial Bold"/>
                <a:ea typeface="Arial Bold"/>
                <a:cs typeface="Arial Bold"/>
                <a:sym typeface="Arial Bold"/>
              </a:rPr>
              <a:t>TRANG GỐC</a:t>
            </a:r>
          </a:p>
          <a:p>
            <a:pPr algn="ctr">
              <a:lnSpc>
                <a:spcPts val="3483"/>
              </a:lnSpc>
            </a:pPr>
            <a:r>
              <a:rPr lang="en-US" b="true" sz="2488">
                <a:solidFill>
                  <a:srgbClr val="E4F4F8"/>
                </a:solidFill>
                <a:latin typeface="Arial Bold"/>
                <a:ea typeface="Arial Bold"/>
                <a:cs typeface="Arial Bold"/>
                <a:sym typeface="Arial Bold"/>
              </a:rPr>
              <a:t>(ROOT)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570574" y="4285339"/>
            <a:ext cx="2843828" cy="1289974"/>
          </a:xfrm>
          <a:custGeom>
            <a:avLst/>
            <a:gdLst/>
            <a:ahLst/>
            <a:cxnLst/>
            <a:rect r="r" b="b" t="t" l="l"/>
            <a:pathLst>
              <a:path h="1289974" w="2843828">
                <a:moveTo>
                  <a:pt x="0" y="0"/>
                </a:moveTo>
                <a:lnTo>
                  <a:pt x="2843828" y="0"/>
                </a:lnTo>
                <a:lnTo>
                  <a:pt x="2843828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357069" y="4399416"/>
            <a:ext cx="1489594" cy="1014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5"/>
              </a:lnSpc>
            </a:pPr>
            <a:r>
              <a:rPr lang="en-US" b="true" sz="2003">
                <a:solidFill>
                  <a:srgbClr val="0E2346"/>
                </a:solidFill>
                <a:latin typeface="Arial Bold"/>
                <a:ea typeface="Arial Bold"/>
                <a:cs typeface="Arial Bold"/>
                <a:sym typeface="Arial Bold"/>
              </a:rPr>
              <a:t>FRAME-TOP</a:t>
            </a:r>
          </a:p>
          <a:p>
            <a:pPr algn="ctr">
              <a:lnSpc>
                <a:spcPts val="2805"/>
              </a:lnSpc>
            </a:pPr>
            <a:r>
              <a:rPr lang="en-US" b="true" sz="2003">
                <a:solidFill>
                  <a:srgbClr val="0E2346"/>
                </a:solidFill>
                <a:latin typeface="Arial Bold"/>
                <a:ea typeface="Arial Bold"/>
                <a:cs typeface="Arial Bold"/>
                <a:sym typeface="Arial Bold"/>
              </a:rPr>
              <a:t>(TOP)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4142574" y="4285339"/>
            <a:ext cx="3062584" cy="1289974"/>
          </a:xfrm>
          <a:custGeom>
            <a:avLst/>
            <a:gdLst/>
            <a:ahLst/>
            <a:cxnLst/>
            <a:rect r="r" b="b" t="t" l="l"/>
            <a:pathLst>
              <a:path h="1289974" w="3062584">
                <a:moveTo>
                  <a:pt x="0" y="0"/>
                </a:moveTo>
                <a:lnTo>
                  <a:pt x="3062584" y="0"/>
                </a:lnTo>
                <a:lnTo>
                  <a:pt x="306258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4605152" y="4399416"/>
            <a:ext cx="2067840" cy="1014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5"/>
              </a:lnSpc>
            </a:pPr>
            <a:r>
              <a:rPr lang="en-US" b="true" sz="2003">
                <a:solidFill>
                  <a:srgbClr val="0E2346"/>
                </a:solidFill>
                <a:latin typeface="Arial Bold"/>
                <a:ea typeface="Arial Bold"/>
                <a:cs typeface="Arial Bold"/>
                <a:sym typeface="Arial Bold"/>
              </a:rPr>
              <a:t>FRAME-BOTTOM (BOTTOM)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925244" y="7062064"/>
            <a:ext cx="2406316" cy="1519546"/>
          </a:xfrm>
          <a:custGeom>
            <a:avLst/>
            <a:gdLst/>
            <a:ahLst/>
            <a:cxnLst/>
            <a:rect r="r" b="b" t="t" l="l"/>
            <a:pathLst>
              <a:path h="1519546" w="2406316">
                <a:moveTo>
                  <a:pt x="0" y="0"/>
                </a:moveTo>
                <a:lnTo>
                  <a:pt x="2406316" y="0"/>
                </a:lnTo>
                <a:lnTo>
                  <a:pt x="2406316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276976" y="7515587"/>
            <a:ext cx="1570528" cy="675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5"/>
              </a:lnSpc>
            </a:pPr>
            <a:r>
              <a:rPr lang="en-US" b="true" sz="2003">
                <a:solidFill>
                  <a:srgbClr val="0E2346"/>
                </a:solidFill>
                <a:latin typeface="Arial Bold"/>
                <a:ea typeface="Arial Bold"/>
                <a:cs typeface="Arial Bold"/>
                <a:sym typeface="Arial Bold"/>
              </a:rPr>
              <a:t>FRAME-LEFT (LEFT)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1528440" y="7062064"/>
            <a:ext cx="2625072" cy="1519546"/>
          </a:xfrm>
          <a:custGeom>
            <a:avLst/>
            <a:gdLst/>
            <a:ahLst/>
            <a:cxnLst/>
            <a:rect r="r" b="b" t="t" l="l"/>
            <a:pathLst>
              <a:path h="1519546" w="2625072">
                <a:moveTo>
                  <a:pt x="0" y="0"/>
                </a:moveTo>
                <a:lnTo>
                  <a:pt x="2625072" y="0"/>
                </a:lnTo>
                <a:lnTo>
                  <a:pt x="2625072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1846663" y="7346013"/>
            <a:ext cx="1918464" cy="1014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5"/>
              </a:lnSpc>
            </a:pPr>
            <a:r>
              <a:rPr lang="en-US" b="true" sz="2003">
                <a:solidFill>
                  <a:srgbClr val="0E2346"/>
                </a:solidFill>
                <a:latin typeface="Arial Bold"/>
                <a:ea typeface="Arial Bold"/>
                <a:cs typeface="Arial Bold"/>
                <a:sym typeface="Arial Bold"/>
              </a:rPr>
              <a:t>FRAME-MIDDLE (MIDDLE)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4361330" y="7062064"/>
            <a:ext cx="2625072" cy="1519546"/>
          </a:xfrm>
          <a:custGeom>
            <a:avLst/>
            <a:gdLst/>
            <a:ahLst/>
            <a:cxnLst/>
            <a:rect r="r" b="b" t="t" l="l"/>
            <a:pathLst>
              <a:path h="1519546" w="2625072">
                <a:moveTo>
                  <a:pt x="0" y="0"/>
                </a:moveTo>
                <a:lnTo>
                  <a:pt x="2625072" y="0"/>
                </a:lnTo>
                <a:lnTo>
                  <a:pt x="2625072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4829787" y="7346013"/>
            <a:ext cx="1736299" cy="1014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5"/>
              </a:lnSpc>
            </a:pPr>
            <a:r>
              <a:rPr lang="en-US" b="true" sz="2003">
                <a:solidFill>
                  <a:srgbClr val="0E2346"/>
                </a:solidFill>
                <a:latin typeface="Arial Bold"/>
                <a:ea typeface="Arial Bold"/>
                <a:cs typeface="Arial Bold"/>
                <a:sym typeface="Arial Bold"/>
              </a:rPr>
              <a:t>FRAME-RIGHT (RIGHT)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0664354" y="2776725"/>
            <a:ext cx="5239206" cy="1519546"/>
          </a:xfrm>
          <a:custGeom>
            <a:avLst/>
            <a:gdLst/>
            <a:ahLst/>
            <a:cxnLst/>
            <a:rect r="r" b="b" t="t" l="l"/>
            <a:pathLst>
              <a:path h="1519546" w="5239206">
                <a:moveTo>
                  <a:pt x="0" y="0"/>
                </a:moveTo>
                <a:lnTo>
                  <a:pt x="5239206" y="0"/>
                </a:lnTo>
                <a:lnTo>
                  <a:pt x="5239206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789330" y="5356674"/>
            <a:ext cx="6114230" cy="1934962"/>
          </a:xfrm>
          <a:custGeom>
            <a:avLst/>
            <a:gdLst/>
            <a:ahLst/>
            <a:cxnLst/>
            <a:rect r="r" b="b" t="t" l="l"/>
            <a:pathLst>
              <a:path h="1934962" w="6114230">
                <a:moveTo>
                  <a:pt x="0" y="0"/>
                </a:moveTo>
                <a:lnTo>
                  <a:pt x="6114230" y="0"/>
                </a:lnTo>
                <a:lnTo>
                  <a:pt x="6114230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797639" y="7972724"/>
            <a:ext cx="3614914" cy="422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488" b="true">
                <a:solidFill>
                  <a:srgbClr val="0E76E1"/>
                </a:solidFill>
                <a:latin typeface="Arial Bold"/>
                <a:ea typeface="Arial Bold"/>
                <a:cs typeface="Arial Bold"/>
                <a:sym typeface="Arial Bold"/>
              </a:rPr>
              <a:t>TÀI LIỆU THAM KHẢO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6574" y="1705390"/>
            <a:ext cx="1323474" cy="229572"/>
          </a:xfrm>
          <a:custGeom>
            <a:avLst/>
            <a:gdLst/>
            <a:ahLst/>
            <a:cxnLst/>
            <a:rect r="r" b="b" t="t" l="l"/>
            <a:pathLst>
              <a:path h="229572" w="1323474">
                <a:moveTo>
                  <a:pt x="0" y="0"/>
                </a:moveTo>
                <a:lnTo>
                  <a:pt x="1323474" y="0"/>
                </a:lnTo>
                <a:lnTo>
                  <a:pt x="132347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82103" y="2318225"/>
            <a:ext cx="15723794" cy="7428826"/>
            <a:chOff x="0" y="0"/>
            <a:chExt cx="4141246" cy="19565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41246" cy="1956563"/>
            </a:xfrm>
            <a:custGeom>
              <a:avLst/>
              <a:gdLst/>
              <a:ahLst/>
              <a:cxnLst/>
              <a:rect r="r" b="b" t="t" l="l"/>
              <a:pathLst>
                <a:path h="1956563" w="4141246">
                  <a:moveTo>
                    <a:pt x="25111" y="0"/>
                  </a:moveTo>
                  <a:lnTo>
                    <a:pt x="4116135" y="0"/>
                  </a:lnTo>
                  <a:cubicBezTo>
                    <a:pt x="4130004" y="0"/>
                    <a:pt x="4141246" y="11243"/>
                    <a:pt x="4141246" y="25111"/>
                  </a:cubicBezTo>
                  <a:lnTo>
                    <a:pt x="4141246" y="1931452"/>
                  </a:lnTo>
                  <a:cubicBezTo>
                    <a:pt x="4141246" y="1938112"/>
                    <a:pt x="4138600" y="1944499"/>
                    <a:pt x="4133891" y="1949208"/>
                  </a:cubicBezTo>
                  <a:cubicBezTo>
                    <a:pt x="4129182" y="1953918"/>
                    <a:pt x="4122795" y="1956563"/>
                    <a:pt x="4116135" y="1956563"/>
                  </a:cubicBezTo>
                  <a:lnTo>
                    <a:pt x="25111" y="1956563"/>
                  </a:lnTo>
                  <a:cubicBezTo>
                    <a:pt x="18451" y="1956563"/>
                    <a:pt x="12064" y="1953918"/>
                    <a:pt x="7355" y="1949208"/>
                  </a:cubicBezTo>
                  <a:cubicBezTo>
                    <a:pt x="2646" y="1944499"/>
                    <a:pt x="0" y="1938112"/>
                    <a:pt x="0" y="1931452"/>
                  </a:cubicBezTo>
                  <a:lnTo>
                    <a:pt x="0" y="25111"/>
                  </a:lnTo>
                  <a:cubicBezTo>
                    <a:pt x="0" y="18451"/>
                    <a:pt x="2646" y="12064"/>
                    <a:pt x="7355" y="7355"/>
                  </a:cubicBezTo>
                  <a:cubicBezTo>
                    <a:pt x="12064" y="2646"/>
                    <a:pt x="18451" y="0"/>
                    <a:pt x="25111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141246" cy="20041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5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58351" y="2616061"/>
            <a:ext cx="15297404" cy="6828276"/>
          </a:xfrm>
          <a:custGeom>
            <a:avLst/>
            <a:gdLst/>
            <a:ahLst/>
            <a:cxnLst/>
            <a:rect r="r" b="b" t="t" l="l"/>
            <a:pathLst>
              <a:path h="6828276" w="15297404">
                <a:moveTo>
                  <a:pt x="0" y="0"/>
                </a:moveTo>
                <a:lnTo>
                  <a:pt x="15297403" y="0"/>
                </a:lnTo>
                <a:lnTo>
                  <a:pt x="15297403" y="6828276"/>
                </a:lnTo>
                <a:lnTo>
                  <a:pt x="0" y="68282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8273" r="0" b="-33367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58351" y="2835032"/>
            <a:ext cx="15007680" cy="933449"/>
          </a:xfrm>
          <a:custGeom>
            <a:avLst/>
            <a:gdLst/>
            <a:ahLst/>
            <a:cxnLst/>
            <a:rect r="r" b="b" t="t" l="l"/>
            <a:pathLst>
              <a:path h="933449" w="15007680">
                <a:moveTo>
                  <a:pt x="0" y="0"/>
                </a:moveTo>
                <a:lnTo>
                  <a:pt x="15007680" y="0"/>
                </a:lnTo>
                <a:lnTo>
                  <a:pt x="15007680" y="933449"/>
                </a:lnTo>
                <a:lnTo>
                  <a:pt x="0" y="9334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527" r="0" b="-15007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980457" y="5394553"/>
            <a:ext cx="6649156" cy="863627"/>
          </a:xfrm>
          <a:custGeom>
            <a:avLst/>
            <a:gdLst/>
            <a:ahLst/>
            <a:cxnLst/>
            <a:rect r="r" b="b" t="t" l="l"/>
            <a:pathLst>
              <a:path h="863627" w="6649156">
                <a:moveTo>
                  <a:pt x="0" y="0"/>
                </a:moveTo>
                <a:lnTo>
                  <a:pt x="6649156" y="0"/>
                </a:lnTo>
                <a:lnTo>
                  <a:pt x="664915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220" r="0" b="-1622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980457" y="4022698"/>
            <a:ext cx="6649156" cy="863627"/>
          </a:xfrm>
          <a:custGeom>
            <a:avLst/>
            <a:gdLst/>
            <a:ahLst/>
            <a:cxnLst/>
            <a:rect r="r" b="b" t="t" l="l"/>
            <a:pathLst>
              <a:path h="863627" w="6649156">
                <a:moveTo>
                  <a:pt x="0" y="0"/>
                </a:moveTo>
                <a:lnTo>
                  <a:pt x="6649156" y="0"/>
                </a:lnTo>
                <a:lnTo>
                  <a:pt x="664915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6220" r="0" b="-1622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980457" y="6828542"/>
            <a:ext cx="6649156" cy="863627"/>
          </a:xfrm>
          <a:custGeom>
            <a:avLst/>
            <a:gdLst/>
            <a:ahLst/>
            <a:cxnLst/>
            <a:rect r="r" b="b" t="t" l="l"/>
            <a:pathLst>
              <a:path h="863627" w="6649156">
                <a:moveTo>
                  <a:pt x="0" y="0"/>
                </a:moveTo>
                <a:lnTo>
                  <a:pt x="6649156" y="0"/>
                </a:lnTo>
                <a:lnTo>
                  <a:pt x="664915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220" r="0" b="-1622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99676" y="928107"/>
            <a:ext cx="8736405" cy="748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b="true" sz="5400" spc="52">
                <a:solidFill>
                  <a:srgbClr val="11294F"/>
                </a:solidFill>
                <a:latin typeface="Arial Bold"/>
                <a:ea typeface="Arial Bold"/>
                <a:cs typeface="Arial Bold"/>
                <a:sym typeface="Arial Bold"/>
              </a:rPr>
              <a:t>NHIỀU CỬA SỔ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99651" y="2951615"/>
            <a:ext cx="1010768" cy="538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4"/>
              </a:lnSpc>
            </a:pPr>
            <a:r>
              <a:rPr lang="en-US" b="true" sz="2558" spc="2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HÀM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14714" y="3004526"/>
            <a:ext cx="1766847" cy="516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64"/>
              </a:lnSpc>
            </a:pPr>
            <a:r>
              <a:rPr lang="en-US" b="true" sz="2480" spc="2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Ý NGHĨA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66243" y="4082124"/>
            <a:ext cx="6063788" cy="728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3"/>
              </a:lnSpc>
              <a:spcBef>
                <a:spcPct val="0"/>
              </a:spcBef>
            </a:pPr>
            <a:r>
              <a:rPr lang="en-US" b="true" sz="208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LẤY</a:t>
            </a:r>
            <a:r>
              <a:rPr lang="en-US" b="true" sz="208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DANH SÁCH ID CỦA TẤT CẢ CỬA SỔ/TAB ĐANG ĐƯỢC WEBDRIVER QUẢN LÝ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60994" y="4256124"/>
            <a:ext cx="2488082" cy="349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5"/>
              </a:lnSpc>
              <a:spcBef>
                <a:spcPct val="0"/>
              </a:spcBef>
            </a:pPr>
            <a:r>
              <a:rPr lang="en-US" b="true" sz="2003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</a:t>
            </a:r>
            <a:r>
              <a:rPr lang="en-US" b="true" sz="2003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INDOW_HANDLES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453099" y="5653692"/>
            <a:ext cx="3703872" cy="349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5"/>
              </a:lnSpc>
              <a:spcBef>
                <a:spcPct val="0"/>
              </a:spcBef>
            </a:pPr>
            <a:r>
              <a:rPr lang="en-US" b="true" sz="2003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</a:t>
            </a:r>
            <a:r>
              <a:rPr lang="en-US" b="true" sz="2003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URRENT_WINDOW_HANDLE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49569" y="7066667"/>
            <a:ext cx="3910933" cy="349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5"/>
              </a:lnSpc>
              <a:spcBef>
                <a:spcPct val="0"/>
              </a:spcBef>
            </a:pPr>
            <a:r>
              <a:rPr lang="en-US" b="true" sz="2003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SW</a:t>
            </a:r>
            <a:r>
              <a:rPr lang="en-US" b="true" sz="2003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ITCH_TO.WINDOW(HANDLE)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66243" y="5614766"/>
            <a:ext cx="6063788" cy="366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3"/>
              </a:lnSpc>
              <a:spcBef>
                <a:spcPct val="0"/>
              </a:spcBef>
            </a:pPr>
            <a:r>
              <a:rPr lang="en-US" b="true" sz="208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LẤY</a:t>
            </a:r>
            <a:r>
              <a:rPr lang="en-US" b="true" sz="208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ID CỦA CỬA SỔ/TAB HIỆN TẠI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76095" y="6945118"/>
            <a:ext cx="4644084" cy="728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3"/>
              </a:lnSpc>
              <a:spcBef>
                <a:spcPct val="0"/>
              </a:spcBef>
            </a:pPr>
            <a:r>
              <a:rPr lang="en-US" b="true" sz="208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Chu</a:t>
            </a:r>
            <a:r>
              <a:rPr lang="en-US" b="true" sz="208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YỂ</a:t>
            </a:r>
            <a:r>
              <a:rPr lang="en-US" b="true" sz="208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 SANG CỬA SỔ/TAB CÓ ID TƯƠNG ỨNG</a:t>
            </a:r>
          </a:p>
        </p:txBody>
      </p:sp>
      <p:sp>
        <p:nvSpPr>
          <p:cNvPr name="AutoShape 20" id="20"/>
          <p:cNvSpPr/>
          <p:nvPr/>
        </p:nvSpPr>
        <p:spPr>
          <a:xfrm>
            <a:off x="1622547" y="5191125"/>
            <a:ext cx="15042906" cy="0"/>
          </a:xfrm>
          <a:prstGeom prst="line">
            <a:avLst/>
          </a:prstGeom>
          <a:ln cap="flat" w="38100">
            <a:solidFill>
              <a:srgbClr val="C8D1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622547" y="6534405"/>
            <a:ext cx="15042906" cy="0"/>
          </a:xfrm>
          <a:prstGeom prst="line">
            <a:avLst/>
          </a:prstGeom>
          <a:ln cap="flat" w="38100">
            <a:solidFill>
              <a:srgbClr val="C8D1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H="true">
            <a:off x="9188002" y="3754679"/>
            <a:ext cx="0" cy="5728844"/>
          </a:xfrm>
          <a:prstGeom prst="line">
            <a:avLst/>
          </a:prstGeom>
          <a:ln cap="flat" w="38100">
            <a:solidFill>
              <a:srgbClr val="C8D1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622547" y="8055257"/>
            <a:ext cx="15042906" cy="0"/>
          </a:xfrm>
          <a:prstGeom prst="line">
            <a:avLst/>
          </a:prstGeom>
          <a:ln cap="flat" w="38100">
            <a:solidFill>
              <a:srgbClr val="C8D1D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1980457" y="8283857"/>
            <a:ext cx="6649156" cy="863627"/>
          </a:xfrm>
          <a:custGeom>
            <a:avLst/>
            <a:gdLst/>
            <a:ahLst/>
            <a:cxnLst/>
            <a:rect r="r" b="b" t="t" l="l"/>
            <a:pathLst>
              <a:path h="863627" w="6649156">
                <a:moveTo>
                  <a:pt x="0" y="0"/>
                </a:moveTo>
                <a:lnTo>
                  <a:pt x="6649156" y="0"/>
                </a:lnTo>
                <a:lnTo>
                  <a:pt x="664915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220" r="0" b="-1622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995791" y="8521982"/>
            <a:ext cx="4618489" cy="349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5"/>
              </a:lnSpc>
              <a:spcBef>
                <a:spcPct val="0"/>
              </a:spcBef>
            </a:pPr>
            <a:r>
              <a:rPr lang="en-US" b="true" sz="2003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EC.NUMBER</a:t>
            </a:r>
            <a:r>
              <a:rPr lang="en-US" b="true" sz="2003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_OF_WINDOWS_TO_BE()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424815" y="8327794"/>
            <a:ext cx="4946644" cy="728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3"/>
              </a:lnSpc>
              <a:spcBef>
                <a:spcPct val="0"/>
              </a:spcBef>
            </a:pPr>
            <a:r>
              <a:rPr lang="en-US" b="true" sz="208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Chờ</a:t>
            </a:r>
            <a:r>
              <a:rPr lang="en-US" b="true" sz="208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SỐ LƯỢNG CỬA SỔ/TAB BẰNG 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0487" y="747107"/>
            <a:ext cx="10315076" cy="686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4"/>
              </a:lnSpc>
            </a:pPr>
            <a:r>
              <a:rPr lang="en-US" sz="5044" b="true">
                <a:solidFill>
                  <a:srgbClr val="0E2346"/>
                </a:solidFill>
                <a:latin typeface="Arial Bold"/>
                <a:ea typeface="Arial Bold"/>
                <a:cs typeface="Arial Bold"/>
                <a:sym typeface="Arial Bold"/>
              </a:rPr>
              <a:t>FRAME LỒNG NHAU – MỤC 3.4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1497682"/>
            <a:ext cx="8072096" cy="437279"/>
          </a:xfrm>
          <a:custGeom>
            <a:avLst/>
            <a:gdLst/>
            <a:ahLst/>
            <a:cxnLst/>
            <a:rect r="r" b="b" t="t" l="l"/>
            <a:pathLst>
              <a:path h="437279" w="8072096">
                <a:moveTo>
                  <a:pt x="0" y="0"/>
                </a:moveTo>
                <a:lnTo>
                  <a:pt x="8072096" y="0"/>
                </a:lnTo>
                <a:lnTo>
                  <a:pt x="807209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6574" y="2142670"/>
            <a:ext cx="8509608" cy="7510275"/>
          </a:xfrm>
          <a:custGeom>
            <a:avLst/>
            <a:gdLst/>
            <a:ahLst/>
            <a:cxnLst/>
            <a:rect r="r" b="b" t="t" l="l"/>
            <a:pathLst>
              <a:path h="7510275" w="8509608">
                <a:moveTo>
                  <a:pt x="0" y="0"/>
                </a:moveTo>
                <a:lnTo>
                  <a:pt x="8509608" y="0"/>
                </a:lnTo>
                <a:lnTo>
                  <a:pt x="8509608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384440" y="2350377"/>
            <a:ext cx="3500096" cy="1508614"/>
          </a:xfrm>
          <a:custGeom>
            <a:avLst/>
            <a:gdLst/>
            <a:ahLst/>
            <a:cxnLst/>
            <a:rect r="r" b="b" t="t" l="l"/>
            <a:pathLst>
              <a:path h="1508614" w="3500096">
                <a:moveTo>
                  <a:pt x="0" y="0"/>
                </a:moveTo>
                <a:lnTo>
                  <a:pt x="3500096" y="0"/>
                </a:lnTo>
                <a:lnTo>
                  <a:pt x="350009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870751" y="2639619"/>
            <a:ext cx="2558821" cy="1000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3"/>
              </a:lnSpc>
            </a:pPr>
            <a:r>
              <a:rPr lang="en-US" b="true" sz="2777">
                <a:solidFill>
                  <a:srgbClr val="EAF3FC"/>
                </a:solidFill>
                <a:latin typeface="Arial Bold"/>
                <a:ea typeface="Arial Bold"/>
                <a:cs typeface="Arial Bold"/>
                <a:sym typeface="Arial Bold"/>
              </a:rPr>
              <a:t>TRANG GỐC</a:t>
            </a:r>
          </a:p>
          <a:p>
            <a:pPr algn="ctr">
              <a:lnSpc>
                <a:spcPts val="2383"/>
              </a:lnSpc>
            </a:pPr>
            <a:r>
              <a:rPr lang="en-US" b="true" sz="1986">
                <a:solidFill>
                  <a:srgbClr val="EAF3FC"/>
                </a:solidFill>
                <a:latin typeface="Arial Bold"/>
                <a:ea typeface="Arial Bold"/>
                <a:cs typeface="Arial Bold"/>
                <a:sym typeface="Arial Bold"/>
              </a:rPr>
              <a:t>(DEFAULT CONTENT)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915732" y="3640352"/>
            <a:ext cx="448450" cy="863627"/>
          </a:xfrm>
          <a:custGeom>
            <a:avLst/>
            <a:gdLst/>
            <a:ahLst/>
            <a:cxnLst/>
            <a:rect r="r" b="b" t="t" l="l"/>
            <a:pathLst>
              <a:path h="863627" w="448450">
                <a:moveTo>
                  <a:pt x="0" y="0"/>
                </a:moveTo>
                <a:lnTo>
                  <a:pt x="448450" y="0"/>
                </a:lnTo>
                <a:lnTo>
                  <a:pt x="44845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044266" y="3917852"/>
            <a:ext cx="1901716" cy="312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1"/>
              </a:lnSpc>
            </a:pPr>
            <a:r>
              <a:rPr lang="en-US" b="true" sz="1669">
                <a:solidFill>
                  <a:srgbClr val="006BCB"/>
                </a:solidFill>
                <a:latin typeface="Arial Bold"/>
                <a:ea typeface="Arial Bold"/>
                <a:cs typeface="Arial Bold"/>
                <a:sym typeface="Arial Bold"/>
              </a:rPr>
              <a:t>switch_to.frame()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603196" y="4285339"/>
            <a:ext cx="3281340" cy="1289974"/>
          </a:xfrm>
          <a:custGeom>
            <a:avLst/>
            <a:gdLst/>
            <a:ahLst/>
            <a:cxnLst/>
            <a:rect r="r" b="b" t="t" l="l"/>
            <a:pathLst>
              <a:path h="1289974" w="3281340">
                <a:moveTo>
                  <a:pt x="0" y="0"/>
                </a:moveTo>
                <a:lnTo>
                  <a:pt x="3281340" y="0"/>
                </a:lnTo>
                <a:lnTo>
                  <a:pt x="328134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358129" y="4758912"/>
            <a:ext cx="1563657" cy="524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b="true" sz="2088">
                <a:solidFill>
                  <a:srgbClr val="0E2346"/>
                </a:solidFill>
                <a:latin typeface="Arial Bold"/>
                <a:ea typeface="Arial Bold"/>
                <a:cs typeface="Arial Bold"/>
                <a:sym typeface="Arial Bold"/>
              </a:rPr>
              <a:t>FRAME-TOP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3915732" y="5356674"/>
            <a:ext cx="448450" cy="1082267"/>
          </a:xfrm>
          <a:custGeom>
            <a:avLst/>
            <a:gdLst/>
            <a:ahLst/>
            <a:cxnLst/>
            <a:rect r="r" b="b" t="t" l="l"/>
            <a:pathLst>
              <a:path h="1082267" w="448450">
                <a:moveTo>
                  <a:pt x="0" y="0"/>
                </a:moveTo>
                <a:lnTo>
                  <a:pt x="448450" y="0"/>
                </a:lnTo>
                <a:lnTo>
                  <a:pt x="44845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044266" y="5679970"/>
            <a:ext cx="1901716" cy="312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1"/>
              </a:lnSpc>
            </a:pPr>
            <a:r>
              <a:rPr lang="en-US" b="true" sz="1669">
                <a:solidFill>
                  <a:srgbClr val="006BCB"/>
                </a:solidFill>
                <a:latin typeface="Arial Bold"/>
                <a:ea typeface="Arial Bold"/>
                <a:cs typeface="Arial Bold"/>
                <a:sym typeface="Arial Bold"/>
              </a:rPr>
              <a:t>switch_to.frame()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2603196" y="6209369"/>
            <a:ext cx="3281340" cy="1300906"/>
          </a:xfrm>
          <a:custGeom>
            <a:avLst/>
            <a:gdLst/>
            <a:ahLst/>
            <a:cxnLst/>
            <a:rect r="r" b="b" t="t" l="l"/>
            <a:pathLst>
              <a:path h="1300906" w="3281340">
                <a:moveTo>
                  <a:pt x="0" y="0"/>
                </a:moveTo>
                <a:lnTo>
                  <a:pt x="3281340" y="0"/>
                </a:lnTo>
                <a:lnTo>
                  <a:pt x="328134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143236" y="6600865"/>
            <a:ext cx="2013850" cy="524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b="true" sz="2088">
                <a:solidFill>
                  <a:srgbClr val="0E2346"/>
                </a:solidFill>
                <a:latin typeface="Arial Bold"/>
                <a:ea typeface="Arial Bold"/>
                <a:cs typeface="Arial Bold"/>
                <a:sym typeface="Arial Bold"/>
              </a:rPr>
              <a:t>FRAME-MIDDLE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3040708" y="7280704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81207" y="7821131"/>
            <a:ext cx="2328966" cy="540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b="true" sz="1406">
                <a:solidFill>
                  <a:srgbClr val="006BCB"/>
                </a:solidFill>
                <a:latin typeface="Arial Bold"/>
                <a:ea typeface="Arial Bold"/>
                <a:cs typeface="Arial Bold"/>
                <a:sym typeface="Arial Bold"/>
              </a:rPr>
              <a:t>switch_to.parent_frame()</a:t>
            </a:r>
          </a:p>
          <a:p>
            <a:pPr algn="ctr">
              <a:lnSpc>
                <a:spcPts val="2249"/>
              </a:lnSpc>
            </a:pPr>
            <a:r>
              <a:rPr lang="en-US" sz="1406">
                <a:solidFill>
                  <a:srgbClr val="0E2346"/>
                </a:solidFill>
                <a:latin typeface="Arial"/>
                <a:ea typeface="Arial"/>
                <a:cs typeface="Arial"/>
                <a:sym typeface="Arial"/>
              </a:rPr>
              <a:t>lùi ra một cấp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3040708" y="2986468"/>
            <a:ext cx="4364182" cy="6012593"/>
          </a:xfrm>
          <a:custGeom>
            <a:avLst/>
            <a:gdLst/>
            <a:ahLst/>
            <a:cxnLst/>
            <a:rect r="r" b="b" t="t" l="l"/>
            <a:pathLst>
              <a:path h="6012593" w="4364182">
                <a:moveTo>
                  <a:pt x="0" y="0"/>
                </a:moveTo>
                <a:lnTo>
                  <a:pt x="4364182" y="0"/>
                </a:lnTo>
                <a:lnTo>
                  <a:pt x="4364182" y="6012593"/>
                </a:lnTo>
                <a:lnTo>
                  <a:pt x="0" y="601259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127314" y="7819509"/>
            <a:ext cx="1613524" cy="634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0"/>
              </a:lnSpc>
            </a:pPr>
            <a:r>
              <a:rPr lang="en-US" sz="1107" b="true">
                <a:solidFill>
                  <a:srgbClr val="006BCB"/>
                </a:solidFill>
                <a:latin typeface="Arial Bold"/>
                <a:ea typeface="Arial Bold"/>
                <a:cs typeface="Arial Bold"/>
                <a:sym typeface="Arial Bold"/>
              </a:rPr>
              <a:t>switch_to.</a:t>
            </a:r>
          </a:p>
          <a:p>
            <a:pPr algn="ctr">
              <a:lnSpc>
                <a:spcPts val="1771"/>
              </a:lnSpc>
            </a:pPr>
            <a:r>
              <a:rPr lang="en-US" b="true" sz="1107">
                <a:solidFill>
                  <a:srgbClr val="006BCB"/>
                </a:solidFill>
                <a:latin typeface="Arial Bold"/>
                <a:ea typeface="Arial Bold"/>
                <a:cs typeface="Arial Bold"/>
                <a:sym typeface="Arial Bold"/>
              </a:rPr>
              <a:t>default_content()</a:t>
            </a:r>
          </a:p>
          <a:p>
            <a:pPr algn="ctr">
              <a:lnSpc>
                <a:spcPts val="1771"/>
              </a:lnSpc>
            </a:pPr>
            <a:r>
              <a:rPr lang="en-US" sz="1107">
                <a:solidFill>
                  <a:srgbClr val="0E2346"/>
                </a:solidFill>
                <a:latin typeface="Arial"/>
                <a:ea typeface="Arial"/>
                <a:cs typeface="Arial"/>
                <a:sym typeface="Arial"/>
              </a:rPr>
              <a:t>về trang gốc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9410555" y="2788989"/>
            <a:ext cx="8290852" cy="1289974"/>
          </a:xfrm>
          <a:custGeom>
            <a:avLst/>
            <a:gdLst/>
            <a:ahLst/>
            <a:cxnLst/>
            <a:rect r="r" b="b" t="t" l="l"/>
            <a:pathLst>
              <a:path h="1289974" w="8290852">
                <a:moveTo>
                  <a:pt x="0" y="0"/>
                </a:moveTo>
                <a:lnTo>
                  <a:pt x="8290852" y="0"/>
                </a:lnTo>
                <a:lnTo>
                  <a:pt x="829085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755563" y="3268413"/>
            <a:ext cx="737328" cy="33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5"/>
              </a:lnSpc>
            </a:pPr>
            <a:r>
              <a:rPr lang="en-US" b="true" sz="2505">
                <a:solidFill>
                  <a:srgbClr val="EAF3FC"/>
                </a:solidFill>
                <a:latin typeface="Arial Bold"/>
                <a:ea typeface="Arial Bold"/>
                <a:cs typeface="Arial Bold"/>
                <a:sym typeface="Arial Bold"/>
              </a:rPr>
              <a:t>HÀM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588203" y="3268413"/>
            <a:ext cx="1031079" cy="33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5"/>
              </a:lnSpc>
            </a:pPr>
            <a:r>
              <a:rPr lang="en-US" b="true" sz="2505">
                <a:solidFill>
                  <a:srgbClr val="EAF3FC"/>
                </a:solidFill>
                <a:latin typeface="Arial Bold"/>
                <a:ea typeface="Arial Bold"/>
                <a:cs typeface="Arial Bold"/>
                <a:sym typeface="Arial Bold"/>
              </a:rPr>
              <a:t>MÔ TẢ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9469292" y="3975304"/>
            <a:ext cx="8290852" cy="4439355"/>
          </a:xfrm>
          <a:custGeom>
            <a:avLst/>
            <a:gdLst/>
            <a:ahLst/>
            <a:cxnLst/>
            <a:rect r="r" b="b" t="t" l="l"/>
            <a:pathLst>
              <a:path h="4439355" w="8290852">
                <a:moveTo>
                  <a:pt x="0" y="0"/>
                </a:moveTo>
                <a:lnTo>
                  <a:pt x="8290851" y="0"/>
                </a:lnTo>
                <a:lnTo>
                  <a:pt x="8290851" y="4439355"/>
                </a:lnTo>
                <a:lnTo>
                  <a:pt x="0" y="443935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35693" r="0" b="-9348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865543" y="4424581"/>
            <a:ext cx="2517368" cy="400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7"/>
              </a:lnSpc>
            </a:pPr>
            <a:r>
              <a:rPr lang="en-US" b="true" sz="2074">
                <a:solidFill>
                  <a:srgbClr val="006BCB"/>
                </a:solidFill>
                <a:latin typeface="Arial Bold"/>
                <a:ea typeface="Arial Bold"/>
                <a:cs typeface="Arial Bold"/>
                <a:sym typeface="Arial Bold"/>
              </a:rPr>
              <a:t>switch_to.frame(x)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605022" y="4238160"/>
            <a:ext cx="3576974" cy="768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3"/>
              </a:lnSpc>
            </a:pPr>
            <a:r>
              <a:rPr lang="en-US" sz="2021">
                <a:solidFill>
                  <a:srgbClr val="0E2346"/>
                </a:solidFill>
                <a:latin typeface="Arial"/>
                <a:ea typeface="Arial"/>
                <a:cs typeface="Arial"/>
                <a:sym typeface="Arial"/>
              </a:rPr>
              <a:t>Chuyển vào frame x trước khi</a:t>
            </a:r>
          </a:p>
          <a:p>
            <a:pPr algn="l">
              <a:lnSpc>
                <a:spcPts val="3233"/>
              </a:lnSpc>
            </a:pPr>
            <a:r>
              <a:rPr lang="en-US" sz="2021">
                <a:solidFill>
                  <a:srgbClr val="0E2346"/>
                </a:solidFill>
                <a:latin typeface="Arial"/>
                <a:ea typeface="Arial"/>
                <a:cs typeface="Arial"/>
                <a:sym typeface="Arial"/>
              </a:rPr>
              <a:t>tìm phần tử bên trong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606931" y="5684000"/>
            <a:ext cx="3386066" cy="768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3"/>
              </a:lnSpc>
            </a:pPr>
            <a:r>
              <a:rPr lang="en-US" sz="2021">
                <a:solidFill>
                  <a:srgbClr val="0E2346"/>
                </a:solidFill>
                <a:latin typeface="Arial"/>
                <a:ea typeface="Arial"/>
                <a:cs typeface="Arial"/>
                <a:sym typeface="Arial"/>
              </a:rPr>
              <a:t>Lùi ra một cấp về frame cha</a:t>
            </a:r>
          </a:p>
          <a:p>
            <a:pPr algn="l">
              <a:lnSpc>
                <a:spcPts val="3233"/>
              </a:lnSpc>
            </a:pPr>
            <a:r>
              <a:rPr lang="en-US" sz="2021">
                <a:solidFill>
                  <a:srgbClr val="0E2346"/>
                </a:solidFill>
                <a:latin typeface="Arial"/>
                <a:ea typeface="Arial"/>
                <a:cs typeface="Arial"/>
                <a:sym typeface="Arial"/>
              </a:rPr>
              <a:t>(nếu có)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60533" y="7310405"/>
            <a:ext cx="3078707" cy="337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5"/>
              </a:lnSpc>
            </a:pPr>
            <a:r>
              <a:rPr lang="en-US" b="true" sz="1722">
                <a:solidFill>
                  <a:srgbClr val="006BCB"/>
                </a:solidFill>
                <a:latin typeface="Arial Bold"/>
                <a:ea typeface="Arial Bold"/>
                <a:cs typeface="Arial Bold"/>
                <a:sym typeface="Arial Bold"/>
              </a:rPr>
              <a:t>switch_to.default_content()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603872" y="7144902"/>
            <a:ext cx="3691938" cy="768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3"/>
              </a:lnSpc>
            </a:pPr>
            <a:r>
              <a:rPr lang="en-US" sz="2021">
                <a:solidFill>
                  <a:srgbClr val="0E2346"/>
                </a:solidFill>
                <a:latin typeface="Arial"/>
                <a:ea typeface="Arial"/>
                <a:cs typeface="Arial"/>
                <a:sym typeface="Arial"/>
              </a:rPr>
              <a:t>Về thắng trang gốc (default content), thoát khỏi mọi frame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60987" y="5864654"/>
            <a:ext cx="2999038" cy="35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6"/>
              </a:lnSpc>
            </a:pPr>
            <a:r>
              <a:rPr lang="en-US" b="true" sz="1810">
                <a:solidFill>
                  <a:srgbClr val="006BCB"/>
                </a:solidFill>
                <a:latin typeface="Arial Bold"/>
                <a:ea typeface="Arial Bold"/>
                <a:cs typeface="Arial Bold"/>
                <a:sym typeface="Arial Bold"/>
              </a:rPr>
              <a:t>switch_to.parent_frame()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9248547" cy="10287000"/>
          </a:xfrm>
          <a:custGeom>
            <a:avLst/>
            <a:gdLst/>
            <a:ahLst/>
            <a:cxnLst/>
            <a:rect r="r" b="b" t="t" l="l"/>
            <a:pathLst>
              <a:path h="10287000" w="19248547">
                <a:moveTo>
                  <a:pt x="0" y="0"/>
                </a:moveTo>
                <a:lnTo>
                  <a:pt x="19248547" y="0"/>
                </a:lnTo>
                <a:lnTo>
                  <a:pt x="1924854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26" r="0" b="-262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3474" y="1401194"/>
            <a:ext cx="1542230" cy="437279"/>
          </a:xfrm>
          <a:custGeom>
            <a:avLst/>
            <a:gdLst/>
            <a:ahLst/>
            <a:cxnLst/>
            <a:rect r="r" b="b" t="t" l="l"/>
            <a:pathLst>
              <a:path h="437279" w="1542230">
                <a:moveTo>
                  <a:pt x="0" y="0"/>
                </a:moveTo>
                <a:lnTo>
                  <a:pt x="1542229" y="0"/>
                </a:lnTo>
                <a:lnTo>
                  <a:pt x="1542229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8228" y="2269604"/>
            <a:ext cx="7967638" cy="5538764"/>
          </a:xfrm>
          <a:custGeom>
            <a:avLst/>
            <a:gdLst/>
            <a:ahLst/>
            <a:cxnLst/>
            <a:rect r="r" b="b" t="t" l="l"/>
            <a:pathLst>
              <a:path h="5538764" w="7967638">
                <a:moveTo>
                  <a:pt x="0" y="0"/>
                </a:moveTo>
                <a:lnTo>
                  <a:pt x="7967638" y="0"/>
                </a:lnTo>
                <a:lnTo>
                  <a:pt x="7967638" y="5538764"/>
                </a:lnTo>
                <a:lnTo>
                  <a:pt x="0" y="55387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964" t="-2565" r="-3964" b="-3727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767556"/>
            <a:ext cx="3281340" cy="762525"/>
          </a:xfrm>
          <a:custGeom>
            <a:avLst/>
            <a:gdLst/>
            <a:ahLst/>
            <a:cxnLst/>
            <a:rect r="r" b="b" t="t" l="l"/>
            <a:pathLst>
              <a:path h="762525" w="3281340">
                <a:moveTo>
                  <a:pt x="0" y="0"/>
                </a:moveTo>
                <a:lnTo>
                  <a:pt x="3281340" y="0"/>
                </a:lnTo>
                <a:lnTo>
                  <a:pt x="3281340" y="762524"/>
                </a:lnTo>
                <a:lnTo>
                  <a:pt x="0" y="7625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3258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127291" y="8618727"/>
            <a:ext cx="7197072" cy="229572"/>
          </a:xfrm>
          <a:custGeom>
            <a:avLst/>
            <a:gdLst/>
            <a:ahLst/>
            <a:cxnLst/>
            <a:rect r="r" b="b" t="t" l="l"/>
            <a:pathLst>
              <a:path h="229572" w="7197072">
                <a:moveTo>
                  <a:pt x="0" y="0"/>
                </a:moveTo>
                <a:lnTo>
                  <a:pt x="7197072" y="0"/>
                </a:lnTo>
                <a:lnTo>
                  <a:pt x="719707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893106" y="2379572"/>
            <a:ext cx="9597370" cy="5428795"/>
          </a:xfrm>
          <a:custGeom>
            <a:avLst/>
            <a:gdLst/>
            <a:ahLst/>
            <a:cxnLst/>
            <a:rect r="r" b="b" t="t" l="l"/>
            <a:pathLst>
              <a:path h="5428795" w="9597370">
                <a:moveTo>
                  <a:pt x="0" y="0"/>
                </a:moveTo>
                <a:lnTo>
                  <a:pt x="9597370" y="0"/>
                </a:lnTo>
                <a:lnTo>
                  <a:pt x="9597370" y="5428796"/>
                </a:lnTo>
                <a:lnTo>
                  <a:pt x="0" y="54287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416" r="0" b="-34377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034622" y="2269604"/>
            <a:ext cx="9253378" cy="1082267"/>
          </a:xfrm>
          <a:custGeom>
            <a:avLst/>
            <a:gdLst/>
            <a:ahLst/>
            <a:cxnLst/>
            <a:rect r="r" b="b" t="t" l="l"/>
            <a:pathLst>
              <a:path h="1082267" w="9253378">
                <a:moveTo>
                  <a:pt x="0" y="0"/>
                </a:moveTo>
                <a:lnTo>
                  <a:pt x="9253378" y="0"/>
                </a:lnTo>
                <a:lnTo>
                  <a:pt x="925337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774" r="0" b="-177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046632" y="3101379"/>
            <a:ext cx="9080066" cy="4556310"/>
          </a:xfrm>
          <a:custGeom>
            <a:avLst/>
            <a:gdLst/>
            <a:ahLst/>
            <a:cxnLst/>
            <a:rect r="r" b="b" t="t" l="l"/>
            <a:pathLst>
              <a:path h="4556310" w="9080066">
                <a:moveTo>
                  <a:pt x="0" y="0"/>
                </a:moveTo>
                <a:lnTo>
                  <a:pt x="9080066" y="0"/>
                </a:lnTo>
                <a:lnTo>
                  <a:pt x="9080066" y="4556311"/>
                </a:lnTo>
                <a:lnTo>
                  <a:pt x="0" y="45563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35" r="-1908" b="-31712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019035" y="3101379"/>
            <a:ext cx="124520" cy="5999614"/>
          </a:xfrm>
          <a:custGeom>
            <a:avLst/>
            <a:gdLst/>
            <a:ahLst/>
            <a:cxnLst/>
            <a:rect r="r" b="b" t="t" l="l"/>
            <a:pathLst>
              <a:path h="5999614" w="124520">
                <a:moveTo>
                  <a:pt x="0" y="0"/>
                </a:moveTo>
                <a:lnTo>
                  <a:pt x="124520" y="0"/>
                </a:lnTo>
                <a:lnTo>
                  <a:pt x="124520" y="5999614"/>
                </a:lnTo>
                <a:lnTo>
                  <a:pt x="0" y="59996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019035" y="3101379"/>
            <a:ext cx="9135261" cy="124520"/>
          </a:xfrm>
          <a:custGeom>
            <a:avLst/>
            <a:gdLst/>
            <a:ahLst/>
            <a:cxnLst/>
            <a:rect r="r" b="b" t="t" l="l"/>
            <a:pathLst>
              <a:path h="124520" w="9135261">
                <a:moveTo>
                  <a:pt x="0" y="0"/>
                </a:moveTo>
                <a:lnTo>
                  <a:pt x="9135261" y="0"/>
                </a:lnTo>
                <a:lnTo>
                  <a:pt x="9135261" y="124520"/>
                </a:lnTo>
                <a:lnTo>
                  <a:pt x="0" y="12452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019035" y="4595623"/>
            <a:ext cx="9135261" cy="124520"/>
          </a:xfrm>
          <a:custGeom>
            <a:avLst/>
            <a:gdLst/>
            <a:ahLst/>
            <a:cxnLst/>
            <a:rect r="r" b="b" t="t" l="l"/>
            <a:pathLst>
              <a:path h="124520" w="9135261">
                <a:moveTo>
                  <a:pt x="0" y="0"/>
                </a:moveTo>
                <a:lnTo>
                  <a:pt x="9135261" y="0"/>
                </a:lnTo>
                <a:lnTo>
                  <a:pt x="9135261" y="124520"/>
                </a:lnTo>
                <a:lnTo>
                  <a:pt x="0" y="1245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019035" y="6101186"/>
            <a:ext cx="9135261" cy="124520"/>
          </a:xfrm>
          <a:custGeom>
            <a:avLst/>
            <a:gdLst/>
            <a:ahLst/>
            <a:cxnLst/>
            <a:rect r="r" b="b" t="t" l="l"/>
            <a:pathLst>
              <a:path h="124520" w="9135261">
                <a:moveTo>
                  <a:pt x="0" y="0"/>
                </a:moveTo>
                <a:lnTo>
                  <a:pt x="9135261" y="0"/>
                </a:lnTo>
                <a:lnTo>
                  <a:pt x="9135261" y="124520"/>
                </a:lnTo>
                <a:lnTo>
                  <a:pt x="0" y="1245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019035" y="7595430"/>
            <a:ext cx="9135261" cy="124520"/>
          </a:xfrm>
          <a:custGeom>
            <a:avLst/>
            <a:gdLst/>
            <a:ahLst/>
            <a:cxnLst/>
            <a:rect r="r" b="b" t="t" l="l"/>
            <a:pathLst>
              <a:path h="124520" w="9135261">
                <a:moveTo>
                  <a:pt x="0" y="0"/>
                </a:moveTo>
                <a:lnTo>
                  <a:pt x="9135261" y="0"/>
                </a:lnTo>
                <a:lnTo>
                  <a:pt x="9135261" y="124520"/>
                </a:lnTo>
                <a:lnTo>
                  <a:pt x="0" y="12452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867106" y="3101379"/>
            <a:ext cx="178066" cy="4494050"/>
          </a:xfrm>
          <a:custGeom>
            <a:avLst/>
            <a:gdLst/>
            <a:ahLst/>
            <a:cxnLst/>
            <a:rect r="r" b="b" t="t" l="l"/>
            <a:pathLst>
              <a:path h="4494050" w="178066">
                <a:moveTo>
                  <a:pt x="0" y="0"/>
                </a:moveTo>
                <a:lnTo>
                  <a:pt x="178066" y="0"/>
                </a:lnTo>
                <a:lnTo>
                  <a:pt x="178066" y="4494051"/>
                </a:lnTo>
                <a:lnTo>
                  <a:pt x="0" y="449405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33474" y="469797"/>
            <a:ext cx="12909658" cy="931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6"/>
              </a:lnSpc>
            </a:pPr>
            <a:r>
              <a:rPr lang="en-US" sz="6177" b="true">
                <a:solidFill>
                  <a:srgbClr val="10264D"/>
                </a:solidFill>
                <a:latin typeface="Arial Bold"/>
                <a:ea typeface="Arial Bold"/>
                <a:cs typeface="Arial Bold"/>
                <a:sym typeface="Arial Bold"/>
              </a:rPr>
              <a:t>THÔNG TIN CƠ BẢN VỀ WAITS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6362" y="3156566"/>
            <a:ext cx="7001194" cy="3513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0"/>
              </a:lnSpc>
              <a:spcBef>
                <a:spcPct val="0"/>
              </a:spcBef>
            </a:pPr>
          </a:p>
          <a:p>
            <a:pPr algn="l">
              <a:lnSpc>
                <a:spcPts val="3110"/>
              </a:lnSpc>
              <a:spcBef>
                <a:spcPct val="0"/>
              </a:spcBef>
            </a:pPr>
            <a:r>
              <a:rPr lang="en-US" b="true" sz="2144" spc="20">
                <a:solidFill>
                  <a:srgbClr val="1C355D"/>
                </a:solidFill>
                <a:latin typeface="Arial Bold"/>
                <a:ea typeface="Arial Bold"/>
                <a:cs typeface="Arial Bold"/>
                <a:sym typeface="Arial Bold"/>
              </a:rPr>
              <a:t>Mục đích: Đồng bộ tốc độ xử lý của kịch bản kiểm thử (test script) với tốc độ tải/phản hồi của trang web.</a:t>
            </a:r>
          </a:p>
          <a:p>
            <a:pPr algn="l">
              <a:lnSpc>
                <a:spcPts val="3110"/>
              </a:lnSpc>
              <a:spcBef>
                <a:spcPct val="0"/>
              </a:spcBef>
            </a:pPr>
            <a:r>
              <a:rPr lang="en-US" b="true" sz="2144" spc="20">
                <a:solidFill>
                  <a:srgbClr val="1C355D"/>
                </a:solidFill>
                <a:latin typeface="Arial Bold"/>
                <a:ea typeface="Arial Bold"/>
                <a:cs typeface="Arial Bold"/>
                <a:sym typeface="Arial Bold"/>
              </a:rPr>
              <a:t>Tác dụng: Tránh lỗi không tìm thấy phần tử (NoSuchElementException) khi giao diện chưa kịp tải xong.</a:t>
            </a:r>
          </a:p>
          <a:p>
            <a:pPr algn="l">
              <a:lnSpc>
                <a:spcPts val="3110"/>
              </a:lnSpc>
              <a:spcBef>
                <a:spcPct val="0"/>
              </a:spcBef>
            </a:pPr>
            <a:r>
              <a:rPr lang="en-US" b="true" sz="2144" spc="20">
                <a:solidFill>
                  <a:srgbClr val="1C355D"/>
                </a:solidFill>
                <a:latin typeface="Arial Bold"/>
                <a:ea typeface="Arial Bold"/>
                <a:cs typeface="Arial Bold"/>
                <a:sym typeface="Arial Bold"/>
              </a:rPr>
              <a:t>3 loại Waits chính: Implicit Wait, Explicit Wait và Fluent Wait.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2913103"/>
            <a:ext cx="3281340" cy="40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2"/>
              </a:lnSpc>
              <a:spcBef>
                <a:spcPct val="0"/>
              </a:spcBef>
            </a:pPr>
            <a:r>
              <a:rPr lang="en-US" b="true" sz="2250" spc="2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1. Tổng quan về Waits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56695" y="3400264"/>
            <a:ext cx="4602672" cy="814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2"/>
              </a:lnSpc>
              <a:spcBef>
                <a:spcPct val="0"/>
              </a:spcBef>
            </a:pPr>
            <a:r>
              <a:rPr lang="en-US" b="true" sz="2250" spc="2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Implicit Wait </a:t>
            </a:r>
          </a:p>
          <a:p>
            <a:pPr algn="ctr">
              <a:lnSpc>
                <a:spcPts val="3262"/>
              </a:lnSpc>
              <a:spcBef>
                <a:spcPct val="0"/>
              </a:spcBef>
            </a:pPr>
            <a:r>
              <a:rPr lang="en-US" b="true" sz="2250" spc="2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(Chờ ngầm định)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00677" y="4907887"/>
            <a:ext cx="2514708" cy="814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2"/>
              </a:lnSpc>
              <a:spcBef>
                <a:spcPct val="0"/>
              </a:spcBef>
            </a:pPr>
            <a:r>
              <a:rPr lang="en-US" b="true" sz="2250" spc="2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Explicit Wait </a:t>
            </a:r>
          </a:p>
          <a:p>
            <a:pPr algn="ctr">
              <a:lnSpc>
                <a:spcPts val="3262"/>
              </a:lnSpc>
              <a:spcBef>
                <a:spcPct val="0"/>
              </a:spcBef>
            </a:pPr>
            <a:r>
              <a:rPr lang="en-US" b="true" sz="2250" spc="2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(Chờ tường minh)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529397" y="6349531"/>
            <a:ext cx="5057269" cy="814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2"/>
              </a:lnSpc>
              <a:spcBef>
                <a:spcPct val="0"/>
              </a:spcBef>
            </a:pPr>
            <a:r>
              <a:rPr lang="en-US" b="true" sz="2250" spc="2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Fluent Wait </a:t>
            </a:r>
          </a:p>
          <a:p>
            <a:pPr algn="ctr">
              <a:lnSpc>
                <a:spcPts val="3262"/>
              </a:lnSpc>
              <a:spcBef>
                <a:spcPct val="0"/>
              </a:spcBef>
            </a:pPr>
            <a:r>
              <a:rPr lang="en-US" b="true" sz="2250" spc="2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(Chờ linh hoạt nâng cao)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14322" y="2506124"/>
            <a:ext cx="8961584" cy="404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2"/>
              </a:lnSpc>
              <a:spcBef>
                <a:spcPct val="0"/>
              </a:spcBef>
            </a:pPr>
            <a:r>
              <a:rPr lang="en-US" b="true" sz="2250" spc="2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BẢNG SO SÁNH 3 LOẠI WAIT TRONG SELENIUM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40094" y="3352667"/>
            <a:ext cx="4725607" cy="81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2"/>
              </a:lnSpc>
              <a:spcBef>
                <a:spcPct val="0"/>
              </a:spcBef>
            </a:pPr>
            <a:r>
              <a:rPr lang="en-US" sz="2250" spc="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Chờ phần tử xuất hiện trong DOM (Presence)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140094" y="4767768"/>
            <a:ext cx="4935812" cy="122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2"/>
              </a:lnSpc>
              <a:spcBef>
                <a:spcPct val="0"/>
              </a:spcBef>
            </a:pPr>
            <a:r>
              <a:rPr lang="en-US" sz="2250" spc="2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Chờ theo trạng thái cụ thể</a:t>
            </a:r>
          </a:p>
          <a:p>
            <a:pPr algn="ctr">
              <a:lnSpc>
                <a:spcPts val="3262"/>
              </a:lnSpc>
              <a:spcBef>
                <a:spcPct val="0"/>
              </a:spcBef>
            </a:pPr>
            <a:r>
              <a:rPr lang="en-US" sz="2250" spc="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(Visible, Clickable, Frame available,...)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245197" y="6397156"/>
            <a:ext cx="4627672" cy="814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2"/>
              </a:lnSpc>
              <a:spcBef>
                <a:spcPct val="0"/>
              </a:spcBef>
            </a:pPr>
            <a:r>
              <a:rPr lang="en-US" sz="2250" spc="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Chờ theo điều kiện linh hoạt + tùy chỉnh tần suất lặp/bỏ qua lỗi.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4677" y="2416392"/>
            <a:ext cx="7634584" cy="6876220"/>
          </a:xfrm>
          <a:custGeom>
            <a:avLst/>
            <a:gdLst/>
            <a:ahLst/>
            <a:cxnLst/>
            <a:rect r="r" b="b" t="t" l="l"/>
            <a:pathLst>
              <a:path h="6876220" w="7634584">
                <a:moveTo>
                  <a:pt x="0" y="0"/>
                </a:moveTo>
                <a:lnTo>
                  <a:pt x="7634583" y="0"/>
                </a:lnTo>
                <a:lnTo>
                  <a:pt x="7634583" y="6876220"/>
                </a:lnTo>
                <a:lnTo>
                  <a:pt x="0" y="687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4086" y="2844807"/>
            <a:ext cx="3281340" cy="863627"/>
          </a:xfrm>
          <a:custGeom>
            <a:avLst/>
            <a:gdLst/>
            <a:ahLst/>
            <a:cxnLst/>
            <a:rect r="r" b="b" t="t" l="l"/>
            <a:pathLst>
              <a:path h="863627" w="3281340">
                <a:moveTo>
                  <a:pt x="0" y="0"/>
                </a:moveTo>
                <a:lnTo>
                  <a:pt x="3281340" y="0"/>
                </a:lnTo>
                <a:lnTo>
                  <a:pt x="328134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925244" y="2579949"/>
            <a:ext cx="9154938" cy="7083928"/>
          </a:xfrm>
          <a:custGeom>
            <a:avLst/>
            <a:gdLst/>
            <a:ahLst/>
            <a:cxnLst/>
            <a:rect r="r" b="b" t="t" l="l"/>
            <a:pathLst>
              <a:path h="7083928" w="9154938">
                <a:moveTo>
                  <a:pt x="0" y="0"/>
                </a:moveTo>
                <a:lnTo>
                  <a:pt x="9154938" y="0"/>
                </a:lnTo>
                <a:lnTo>
                  <a:pt x="9154938" y="7083928"/>
                </a:lnTo>
                <a:lnTo>
                  <a:pt x="0" y="70839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2776725"/>
            <a:ext cx="8936182" cy="1082267"/>
          </a:xfrm>
          <a:custGeom>
            <a:avLst/>
            <a:gdLst/>
            <a:ahLst/>
            <a:cxnLst/>
            <a:rect r="r" b="b" t="t" l="l"/>
            <a:pathLst>
              <a:path h="1082267" w="8936182">
                <a:moveTo>
                  <a:pt x="0" y="0"/>
                </a:moveTo>
                <a:lnTo>
                  <a:pt x="8936182" y="0"/>
                </a:lnTo>
                <a:lnTo>
                  <a:pt x="893618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3640352"/>
            <a:ext cx="8936182" cy="5793953"/>
          </a:xfrm>
          <a:custGeom>
            <a:avLst/>
            <a:gdLst/>
            <a:ahLst/>
            <a:cxnLst/>
            <a:rect r="r" b="b" t="t" l="l"/>
            <a:pathLst>
              <a:path h="5793953" w="8936182">
                <a:moveTo>
                  <a:pt x="0" y="0"/>
                </a:moveTo>
                <a:lnTo>
                  <a:pt x="8936182" y="0"/>
                </a:lnTo>
                <a:lnTo>
                  <a:pt x="8936182" y="5793953"/>
                </a:lnTo>
                <a:lnTo>
                  <a:pt x="0" y="57939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331090" y="3765011"/>
            <a:ext cx="875024" cy="1082267"/>
          </a:xfrm>
          <a:custGeom>
            <a:avLst/>
            <a:gdLst/>
            <a:ahLst/>
            <a:cxnLst/>
            <a:rect r="r" b="b" t="t" l="l"/>
            <a:pathLst>
              <a:path h="1082267" w="875024">
                <a:moveTo>
                  <a:pt x="0" y="0"/>
                </a:moveTo>
                <a:lnTo>
                  <a:pt x="875024" y="0"/>
                </a:lnTo>
                <a:lnTo>
                  <a:pt x="87502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331090" y="5258286"/>
            <a:ext cx="875024" cy="863627"/>
          </a:xfrm>
          <a:custGeom>
            <a:avLst/>
            <a:gdLst/>
            <a:ahLst/>
            <a:cxnLst/>
            <a:rect r="r" b="b" t="t" l="l"/>
            <a:pathLst>
              <a:path h="863627" w="875024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331090" y="6797149"/>
            <a:ext cx="875024" cy="863627"/>
          </a:xfrm>
          <a:custGeom>
            <a:avLst/>
            <a:gdLst/>
            <a:ahLst/>
            <a:cxnLst/>
            <a:rect r="r" b="b" t="t" l="l"/>
            <a:pathLst>
              <a:path h="863627" w="875024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331090" y="8271333"/>
            <a:ext cx="875024" cy="952951"/>
          </a:xfrm>
          <a:custGeom>
            <a:avLst/>
            <a:gdLst/>
            <a:ahLst/>
            <a:cxnLst/>
            <a:rect r="r" b="b" t="t" l="l"/>
            <a:pathLst>
              <a:path h="952951" w="875024">
                <a:moveTo>
                  <a:pt x="0" y="0"/>
                </a:moveTo>
                <a:lnTo>
                  <a:pt x="875024" y="0"/>
                </a:lnTo>
                <a:lnTo>
                  <a:pt x="875024" y="952951"/>
                </a:lnTo>
                <a:lnTo>
                  <a:pt x="0" y="95295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1357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33474" y="469797"/>
            <a:ext cx="12909658" cy="1823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6"/>
              </a:lnSpc>
            </a:pPr>
            <a:r>
              <a:rPr lang="en-US" sz="6177" b="true">
                <a:solidFill>
                  <a:srgbClr val="10264D"/>
                </a:solidFill>
                <a:latin typeface="Arial Bold"/>
                <a:ea typeface="Arial Bold"/>
                <a:cs typeface="Arial Bold"/>
                <a:sym typeface="Arial Bold"/>
              </a:rPr>
              <a:t>EXPLICIT WAITS &amp; EXCEPTIONS – MỤC 5.1, 7.1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2387" y="3034145"/>
            <a:ext cx="3163038" cy="481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5"/>
              </a:lnSpc>
            </a:pPr>
            <a:r>
              <a:rPr lang="en-US" b="true" sz="2707" spc="26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EXPLICIT WAITS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78144" y="3017212"/>
            <a:ext cx="4929977" cy="442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5"/>
              </a:lnSpc>
            </a:pPr>
            <a:r>
              <a:rPr lang="en-US" b="true" sz="2513" spc="2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EXCEPTIONS THƯỜNG GẶP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06114" y="4078492"/>
            <a:ext cx="3405977" cy="38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0"/>
              </a:lnSpc>
            </a:pPr>
            <a:r>
              <a:rPr lang="en-US" sz="2227" spc="21" b="true">
                <a:solidFill>
                  <a:srgbClr val="10264D"/>
                </a:solidFill>
                <a:latin typeface="Arial Bold"/>
                <a:ea typeface="Arial Bold"/>
                <a:cs typeface="Arial Bold"/>
                <a:sym typeface="Arial Bold"/>
              </a:rPr>
              <a:t>NoSuchFrameException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07416" y="4025628"/>
            <a:ext cx="3214688" cy="816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 spc="21">
                <a:solidFill>
                  <a:srgbClr val="10264D"/>
                </a:solidFill>
                <a:latin typeface="Arial"/>
                <a:ea typeface="Arial"/>
                <a:cs typeface="Arial"/>
                <a:sym typeface="Arial"/>
              </a:rPr>
              <a:t>sai tên frame hoặc</a:t>
            </a:r>
          </a:p>
          <a:p>
            <a:pPr algn="l">
              <a:lnSpc>
                <a:spcPts val="3262"/>
              </a:lnSpc>
            </a:pPr>
            <a:r>
              <a:rPr lang="en-US" sz="2250" spc="21">
                <a:solidFill>
                  <a:srgbClr val="10264D"/>
                </a:solidFill>
                <a:latin typeface="Arial"/>
                <a:ea typeface="Arial"/>
                <a:cs typeface="Arial"/>
                <a:sym typeface="Arial"/>
              </a:rPr>
              <a:t>quên default_content()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06114" y="5632949"/>
            <a:ext cx="3405977" cy="349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025" spc="19" b="true">
                <a:solidFill>
                  <a:srgbClr val="10264D"/>
                </a:solidFill>
                <a:latin typeface="Arial Bold"/>
                <a:ea typeface="Arial Bold"/>
                <a:cs typeface="Arial Bold"/>
                <a:sym typeface="Arial Bold"/>
              </a:rPr>
              <a:t>NoSuchElementException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07416" y="5403916"/>
            <a:ext cx="3539327" cy="816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 spc="21">
                <a:solidFill>
                  <a:srgbClr val="10264D"/>
                </a:solidFill>
                <a:latin typeface="Arial"/>
                <a:ea typeface="Arial"/>
                <a:cs typeface="Arial"/>
                <a:sym typeface="Arial"/>
              </a:rPr>
              <a:t>tìm phần tử khi chưa vào frame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06114" y="7002267"/>
            <a:ext cx="3405977" cy="349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025" spc="19" b="true">
                <a:solidFill>
                  <a:srgbClr val="10264D"/>
                </a:solidFill>
                <a:latin typeface="Arial Bold"/>
                <a:ea typeface="Arial Bold"/>
                <a:cs typeface="Arial Bold"/>
                <a:sym typeface="Arial Bold"/>
              </a:rPr>
              <a:t>NoSuchWindowException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307416" y="6992742"/>
            <a:ext cx="3063819" cy="405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 spc="21">
                <a:solidFill>
                  <a:srgbClr val="10264D"/>
                </a:solidFill>
                <a:latin typeface="Arial"/>
                <a:ea typeface="Arial"/>
                <a:cs typeface="Arial"/>
                <a:sym typeface="Arial"/>
              </a:rPr>
              <a:t>dùng driver sau close()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06114" y="8520156"/>
            <a:ext cx="3214688" cy="38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0"/>
              </a:lnSpc>
            </a:pPr>
            <a:r>
              <a:rPr lang="en-US" sz="2227" spc="21" b="true">
                <a:solidFill>
                  <a:srgbClr val="10264D"/>
                </a:solidFill>
                <a:latin typeface="Arial Bold"/>
                <a:ea typeface="Arial Bold"/>
                <a:cs typeface="Arial Bold"/>
                <a:sym typeface="Arial Bold"/>
              </a:rPr>
              <a:t>TimeoutException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073312" y="8520156"/>
            <a:ext cx="3214688" cy="38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0"/>
              </a:lnSpc>
            </a:pPr>
            <a:r>
              <a:rPr lang="en-US" sz="2227" spc="21">
                <a:solidFill>
                  <a:srgbClr val="10264D"/>
                </a:solidFill>
                <a:latin typeface="Arial"/>
                <a:ea typeface="Arial"/>
                <a:cs typeface="Arial"/>
                <a:sym typeface="Arial"/>
              </a:rPr>
              <a:t>hết giờ chờ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97689" y="4184684"/>
            <a:ext cx="6830963" cy="1873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8"/>
              </a:lnSpc>
              <a:spcBef>
                <a:spcPct val="0"/>
              </a:spcBef>
            </a:pPr>
            <a:r>
              <a:rPr lang="en-US" b="true" sz="2570" spc="25">
                <a:solidFill>
                  <a:srgbClr val="11294F"/>
                </a:solidFill>
                <a:latin typeface="Arial Bold"/>
                <a:ea typeface="Arial Bold"/>
                <a:cs typeface="Arial Bold"/>
                <a:sym typeface="Arial Bold"/>
              </a:rPr>
              <a:t>Là cơ chế chờ trong Selenium, cho phép chương trình đợi đến khi một điều kiện cụ thể được thỏa mãn hoặc hết thời gian chờ mới tiếp tục thực hiện.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5330" y="2142670"/>
            <a:ext cx="1323474" cy="218640"/>
          </a:xfrm>
          <a:custGeom>
            <a:avLst/>
            <a:gdLst/>
            <a:ahLst/>
            <a:cxnLst/>
            <a:rect r="r" b="b" t="t" l="l"/>
            <a:pathLst>
              <a:path h="218640" w="1323474">
                <a:moveTo>
                  <a:pt x="0" y="0"/>
                </a:moveTo>
                <a:lnTo>
                  <a:pt x="1323474" y="0"/>
                </a:lnTo>
                <a:lnTo>
                  <a:pt x="132347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6574" y="2569017"/>
            <a:ext cx="5676718" cy="7510275"/>
          </a:xfrm>
          <a:custGeom>
            <a:avLst/>
            <a:gdLst/>
            <a:ahLst/>
            <a:cxnLst/>
            <a:rect r="r" b="b" t="t" l="l"/>
            <a:pathLst>
              <a:path h="7510275" w="5676718">
                <a:moveTo>
                  <a:pt x="0" y="0"/>
                </a:moveTo>
                <a:lnTo>
                  <a:pt x="5676718" y="0"/>
                </a:lnTo>
                <a:lnTo>
                  <a:pt x="5676718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81184" y="2651997"/>
            <a:ext cx="5665780" cy="7510275"/>
          </a:xfrm>
          <a:custGeom>
            <a:avLst/>
            <a:gdLst/>
            <a:ahLst/>
            <a:cxnLst/>
            <a:rect r="r" b="b" t="t" l="l"/>
            <a:pathLst>
              <a:path h="7510275" w="5665780">
                <a:moveTo>
                  <a:pt x="0" y="0"/>
                </a:moveTo>
                <a:lnTo>
                  <a:pt x="5665780" y="0"/>
                </a:lnTo>
                <a:lnTo>
                  <a:pt x="5665780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15935" y="2896035"/>
            <a:ext cx="989141" cy="965351"/>
          </a:xfrm>
          <a:custGeom>
            <a:avLst/>
            <a:gdLst/>
            <a:ahLst/>
            <a:cxnLst/>
            <a:rect r="r" b="b" t="t" l="l"/>
            <a:pathLst>
              <a:path h="965351" w="989141">
                <a:moveTo>
                  <a:pt x="0" y="0"/>
                </a:moveTo>
                <a:lnTo>
                  <a:pt x="989141" y="0"/>
                </a:lnTo>
                <a:lnTo>
                  <a:pt x="989141" y="965351"/>
                </a:lnTo>
                <a:lnTo>
                  <a:pt x="0" y="9653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87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15935" y="3018551"/>
            <a:ext cx="847526" cy="834974"/>
          </a:xfrm>
          <a:custGeom>
            <a:avLst/>
            <a:gdLst/>
            <a:ahLst/>
            <a:cxnLst/>
            <a:rect r="r" b="b" t="t" l="l"/>
            <a:pathLst>
              <a:path h="834974" w="847526">
                <a:moveTo>
                  <a:pt x="0" y="0"/>
                </a:moveTo>
                <a:lnTo>
                  <a:pt x="847526" y="0"/>
                </a:lnTo>
                <a:lnTo>
                  <a:pt x="847526" y="834975"/>
                </a:lnTo>
                <a:lnTo>
                  <a:pt x="0" y="8349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873332" y="2512956"/>
            <a:ext cx="5676718" cy="7510275"/>
          </a:xfrm>
          <a:custGeom>
            <a:avLst/>
            <a:gdLst/>
            <a:ahLst/>
            <a:cxnLst/>
            <a:rect r="r" b="b" t="t" l="l"/>
            <a:pathLst>
              <a:path h="7510275" w="5676718">
                <a:moveTo>
                  <a:pt x="0" y="0"/>
                </a:moveTo>
                <a:lnTo>
                  <a:pt x="5676718" y="0"/>
                </a:lnTo>
                <a:lnTo>
                  <a:pt x="5676718" y="7510276"/>
                </a:lnTo>
                <a:lnTo>
                  <a:pt x="0" y="75102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061289" y="2899202"/>
            <a:ext cx="977356" cy="962184"/>
          </a:xfrm>
          <a:custGeom>
            <a:avLst/>
            <a:gdLst/>
            <a:ahLst/>
            <a:cxnLst/>
            <a:rect r="r" b="b" t="t" l="l"/>
            <a:pathLst>
              <a:path h="962184" w="977356">
                <a:moveTo>
                  <a:pt x="0" y="0"/>
                </a:moveTo>
                <a:lnTo>
                  <a:pt x="977355" y="0"/>
                </a:lnTo>
                <a:lnTo>
                  <a:pt x="977355" y="962184"/>
                </a:lnTo>
                <a:lnTo>
                  <a:pt x="0" y="9621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241675" y="3084620"/>
            <a:ext cx="616583" cy="702837"/>
          </a:xfrm>
          <a:custGeom>
            <a:avLst/>
            <a:gdLst/>
            <a:ahLst/>
            <a:cxnLst/>
            <a:rect r="r" b="b" t="t" l="l"/>
            <a:pathLst>
              <a:path h="702837" w="616583">
                <a:moveTo>
                  <a:pt x="0" y="0"/>
                </a:moveTo>
                <a:lnTo>
                  <a:pt x="616583" y="0"/>
                </a:lnTo>
                <a:lnTo>
                  <a:pt x="616583" y="702837"/>
                </a:lnTo>
                <a:lnTo>
                  <a:pt x="0" y="70283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2241675" y="4601521"/>
            <a:ext cx="5267993" cy="1269707"/>
            <a:chOff x="0" y="0"/>
            <a:chExt cx="7023990" cy="1692943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6737854" cy="1692943"/>
              <a:chOff x="0" y="0"/>
              <a:chExt cx="1351116" cy="33947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351116" cy="339479"/>
              </a:xfrm>
              <a:custGeom>
                <a:avLst/>
                <a:gdLst/>
                <a:ahLst/>
                <a:cxnLst/>
                <a:rect r="r" b="b" t="t" l="l"/>
                <a:pathLst>
                  <a:path h="339479" w="1351116">
                    <a:moveTo>
                      <a:pt x="0" y="0"/>
                    </a:moveTo>
                    <a:lnTo>
                      <a:pt x="1351116" y="0"/>
                    </a:lnTo>
                    <a:lnTo>
                      <a:pt x="1351116" y="339479"/>
                    </a:lnTo>
                    <a:lnTo>
                      <a:pt x="0" y="339479"/>
                    </a:lnTo>
                    <a:close/>
                  </a:path>
                </a:pathLst>
              </a:custGeom>
              <a:solidFill>
                <a:srgbClr val="1C355D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57150"/>
                <a:ext cx="1351116" cy="3966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62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78996" y="144318"/>
              <a:ext cx="6944994" cy="15374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8"/>
                </a:lnSpc>
              </a:pPr>
              <a:r>
                <a:rPr lang="en-US" sz="2157" spc="19">
                  <a:solidFill>
                    <a:srgbClr val="4EC9B0"/>
                  </a:solidFill>
                  <a:latin typeface="Arial"/>
                  <a:ea typeface="Arial"/>
                  <a:cs typeface="Arial"/>
                  <a:sym typeface="Arial"/>
                </a:rPr>
                <a:t>webdriver</a:t>
              </a:r>
              <a:r>
                <a:rPr lang="en-US" sz="2157" spc="19">
                  <a:solidFill>
                    <a:srgbClr val="F8F7F2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r>
                <a:rPr lang="en-US" sz="2157" spc="19">
                  <a:solidFill>
                    <a:srgbClr val="DCDCAA"/>
                  </a:solidFill>
                  <a:latin typeface="Arial"/>
                  <a:ea typeface="Arial"/>
                  <a:cs typeface="Arial"/>
                  <a:sym typeface="Arial"/>
                </a:rPr>
                <a:t>Remote</a:t>
              </a:r>
              <a:r>
                <a:rPr lang="en-US" sz="2157" spc="19">
                  <a:solidFill>
                    <a:srgbClr val="F8F7F2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</a:p>
            <a:p>
              <a:pPr algn="l">
                <a:lnSpc>
                  <a:spcPts val="3128"/>
                </a:lnSpc>
              </a:pPr>
              <a:r>
                <a:rPr lang="en-US" sz="2157" spc="19">
                  <a:solidFill>
                    <a:srgbClr val="0E2954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lang="en-US" sz="2157" spc="19">
                  <a:solidFill>
                    <a:srgbClr val="9CDCFE"/>
                  </a:solidFill>
                  <a:latin typeface="Arial"/>
                  <a:ea typeface="Arial"/>
                  <a:cs typeface="Arial"/>
                  <a:sym typeface="Arial"/>
                </a:rPr>
                <a:t>command_executor</a:t>
              </a:r>
              <a:r>
                <a:rPr lang="en-US" sz="2157" spc="19">
                  <a:solidFill>
                    <a:srgbClr val="F8F7F2"/>
                  </a:solidFill>
                  <a:latin typeface="Arial"/>
                  <a:ea typeface="Arial"/>
                  <a:cs typeface="Arial"/>
                  <a:sym typeface="Arial"/>
                </a:rPr>
                <a:t>='</a:t>
              </a:r>
              <a:r>
                <a:rPr lang="en-US" sz="2157" spc="19">
                  <a:solidFill>
                    <a:srgbClr val="CE9178"/>
                  </a:solidFill>
                  <a:latin typeface="Arial"/>
                  <a:ea typeface="Arial"/>
                  <a:cs typeface="Arial"/>
                  <a:sym typeface="Arial"/>
                </a:rPr>
                <a:t>http://host:4444</a:t>
              </a:r>
              <a:r>
                <a:rPr lang="en-US" sz="2157" spc="19">
                  <a:solidFill>
                    <a:srgbClr val="F8F7F2"/>
                  </a:solidFill>
                  <a:latin typeface="Arial"/>
                  <a:ea typeface="Arial"/>
                  <a:cs typeface="Arial"/>
                  <a:sym typeface="Arial"/>
                </a:rPr>
                <a:t>'</a:t>
              </a:r>
            </a:p>
            <a:p>
              <a:pPr algn="l">
                <a:lnSpc>
                  <a:spcPts val="3128"/>
                </a:lnSpc>
                <a:spcBef>
                  <a:spcPct val="0"/>
                </a:spcBef>
              </a:pPr>
              <a:r>
                <a:rPr lang="en-US" sz="2157" spc="21">
                  <a:solidFill>
                    <a:srgbClr val="F8F7F2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03436" y="3050985"/>
            <a:ext cx="736472" cy="736472"/>
          </a:xfrm>
          <a:custGeom>
            <a:avLst/>
            <a:gdLst/>
            <a:ahLst/>
            <a:cxnLst/>
            <a:rect r="r" b="b" t="t" l="l"/>
            <a:pathLst>
              <a:path h="736472" w="736472">
                <a:moveTo>
                  <a:pt x="0" y="0"/>
                </a:moveTo>
                <a:lnTo>
                  <a:pt x="736472" y="0"/>
                </a:lnTo>
                <a:lnTo>
                  <a:pt x="736472" y="736472"/>
                </a:lnTo>
                <a:lnTo>
                  <a:pt x="0" y="73647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86756" y="230192"/>
            <a:ext cx="15618132" cy="1706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3"/>
              </a:lnSpc>
            </a:pPr>
            <a:r>
              <a:rPr lang="en-US" b="true" sz="5568" spc="111">
                <a:solidFill>
                  <a:srgbClr val="0B224B"/>
                </a:solidFill>
                <a:latin typeface="Arial Bold"/>
                <a:ea typeface="Arial Bold"/>
                <a:cs typeface="Arial Bold"/>
                <a:sym typeface="Arial Bold"/>
              </a:rPr>
              <a:t>HISTORY, COOKIES, REMOTE WEBDRIVER - MỤC 3.6, 3.7, 7.19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64086" y="3992823"/>
            <a:ext cx="1751643" cy="437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7"/>
              </a:lnSpc>
            </a:pPr>
            <a:r>
              <a:rPr lang="en-US" b="true" sz="2772" spc="55">
                <a:solidFill>
                  <a:srgbClr val="0B224B"/>
                </a:solidFill>
                <a:latin typeface="Arial Bold"/>
                <a:ea typeface="Arial Bold"/>
                <a:cs typeface="Arial Bold"/>
                <a:sym typeface="Arial Bold"/>
              </a:rPr>
              <a:t>HISTORY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14765" y="4873176"/>
            <a:ext cx="5048717" cy="382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6"/>
              </a:lnSpc>
            </a:pPr>
            <a:r>
              <a:rPr lang="en-US" sz="2190" spc="43">
                <a:solidFill>
                  <a:srgbClr val="0F7AE8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lang="en-US" sz="2190" spc="43">
                <a:solidFill>
                  <a:srgbClr val="0B224B"/>
                </a:solidFill>
                <a:latin typeface="Arial"/>
                <a:ea typeface="Arial"/>
                <a:cs typeface="Arial"/>
                <a:sym typeface="Arial"/>
              </a:rPr>
              <a:t> back() / forward(): Điều hướng trang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14765" y="5421468"/>
            <a:ext cx="4799643" cy="382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6"/>
              </a:lnSpc>
            </a:pPr>
            <a:r>
              <a:rPr lang="en-US" sz="2190" spc="43">
                <a:solidFill>
                  <a:srgbClr val="0E76E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lang="en-US" sz="2190" spc="43">
                <a:solidFill>
                  <a:srgbClr val="0B224B"/>
                </a:solidFill>
                <a:latin typeface="Arial"/>
                <a:ea typeface="Arial"/>
                <a:cs typeface="Arial"/>
                <a:sym typeface="Arial"/>
              </a:rPr>
              <a:t> current_url: Lấy URL đang mở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415935" y="3949261"/>
            <a:ext cx="1978282" cy="438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4"/>
              </a:lnSpc>
            </a:pPr>
            <a:r>
              <a:rPr lang="en-US" b="true" sz="2769" spc="55">
                <a:solidFill>
                  <a:srgbClr val="0B224B"/>
                </a:solidFill>
                <a:latin typeface="Arial Bold"/>
                <a:ea typeface="Arial Bold"/>
                <a:cs typeface="Arial Bold"/>
                <a:sym typeface="Arial Bold"/>
              </a:rPr>
              <a:t>COOKIES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05468" y="4873394"/>
            <a:ext cx="5039552" cy="382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sz="2192" spc="43">
                <a:solidFill>
                  <a:srgbClr val="0E76E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lang="en-US" sz="2192" spc="43">
                <a:solidFill>
                  <a:srgbClr val="0B224B"/>
                </a:solidFill>
                <a:latin typeface="Arial"/>
                <a:ea typeface="Arial"/>
                <a:cs typeface="Arial"/>
                <a:sym typeface="Arial"/>
              </a:rPr>
              <a:t> add_cookie / get_cookie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84708" y="3992823"/>
            <a:ext cx="4606888" cy="438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4"/>
              </a:lnSpc>
            </a:pPr>
            <a:r>
              <a:rPr lang="en-US" b="true" sz="2769" spc="55">
                <a:solidFill>
                  <a:srgbClr val="0B224B"/>
                </a:solidFill>
                <a:latin typeface="Arial Bold"/>
                <a:ea typeface="Arial Bold"/>
                <a:cs typeface="Arial Bold"/>
                <a:sym typeface="Arial Bold"/>
              </a:rPr>
              <a:t>REMOTE WEBDRIVER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415935" y="5393638"/>
            <a:ext cx="5039552" cy="763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sz="2192" spc="43">
                <a:solidFill>
                  <a:srgbClr val="0E76E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lang="en-US" sz="2192" spc="43">
                <a:solidFill>
                  <a:srgbClr val="0B224B"/>
                </a:solidFill>
                <a:latin typeface="Arial"/>
                <a:ea typeface="Arial"/>
                <a:cs typeface="Arial"/>
                <a:sym typeface="Arial"/>
              </a:rPr>
              <a:t> cookie dùng chung giữa các tab cùng domain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87792" y="6090303"/>
            <a:ext cx="3292403" cy="397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5"/>
              </a:lnSpc>
              <a:spcBef>
                <a:spcPct val="0"/>
              </a:spcBef>
            </a:pPr>
            <a:r>
              <a:rPr lang="en-US" sz="2190" spc="21">
                <a:solidFill>
                  <a:srgbClr val="0E76E1"/>
                </a:solidFill>
                <a:latin typeface="Arial"/>
                <a:ea typeface="Arial"/>
                <a:cs typeface="Arial"/>
                <a:sym typeface="Arial"/>
              </a:rPr>
              <a:t>&gt; </a:t>
            </a:r>
            <a:r>
              <a:rPr lang="en-US" sz="2190" spc="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chạy trên Selenium Grid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278206" y="6706515"/>
            <a:ext cx="3280767" cy="397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5"/>
              </a:lnSpc>
              <a:spcBef>
                <a:spcPct val="0"/>
              </a:spcBef>
            </a:pPr>
            <a:r>
              <a:rPr lang="en-US" sz="2190" spc="21">
                <a:solidFill>
                  <a:srgbClr val="0E76E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lang="en-US" sz="2190" spc="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Code test giữ nguyên   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282057" y="7322727"/>
            <a:ext cx="4757103" cy="797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5"/>
              </a:lnSpc>
              <a:spcBef>
                <a:spcPct val="0"/>
              </a:spcBef>
            </a:pPr>
            <a:r>
              <a:rPr lang="en-US" sz="2190" spc="21">
                <a:solidFill>
                  <a:srgbClr val="0E76E1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r>
              <a:rPr lang="en-US" sz="2190" spc="2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hỗ trợ đầy đủ API windows, frames, cookies giống local driver.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6574" y="1497682"/>
            <a:ext cx="8072096" cy="218640"/>
          </a:xfrm>
          <a:custGeom>
            <a:avLst/>
            <a:gdLst/>
            <a:ahLst/>
            <a:cxnLst/>
            <a:rect r="r" b="b" t="t" l="l"/>
            <a:pathLst>
              <a:path h="218640" w="8072096">
                <a:moveTo>
                  <a:pt x="0" y="0"/>
                </a:moveTo>
                <a:lnTo>
                  <a:pt x="8072096" y="0"/>
                </a:lnTo>
                <a:lnTo>
                  <a:pt x="8072096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6415" y="2370403"/>
            <a:ext cx="8117585" cy="6133287"/>
          </a:xfrm>
          <a:custGeom>
            <a:avLst/>
            <a:gdLst/>
            <a:ahLst/>
            <a:cxnLst/>
            <a:rect r="r" b="b" t="t" l="l"/>
            <a:pathLst>
              <a:path h="6133287" w="8117585">
                <a:moveTo>
                  <a:pt x="0" y="0"/>
                </a:moveTo>
                <a:lnTo>
                  <a:pt x="8117585" y="0"/>
                </a:lnTo>
                <a:lnTo>
                  <a:pt x="8117585" y="6133287"/>
                </a:lnTo>
                <a:lnTo>
                  <a:pt x="0" y="61332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678436" y="2831466"/>
            <a:ext cx="7811335" cy="4624067"/>
          </a:xfrm>
          <a:custGeom>
            <a:avLst/>
            <a:gdLst/>
            <a:ahLst/>
            <a:cxnLst/>
            <a:rect r="r" b="b" t="t" l="l"/>
            <a:pathLst>
              <a:path h="4624067" w="7811335">
                <a:moveTo>
                  <a:pt x="0" y="0"/>
                </a:moveTo>
                <a:lnTo>
                  <a:pt x="7811335" y="0"/>
                </a:lnTo>
                <a:lnTo>
                  <a:pt x="7811335" y="4624068"/>
                </a:lnTo>
                <a:lnTo>
                  <a:pt x="0" y="46240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19678" y="516348"/>
            <a:ext cx="8931377" cy="86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3"/>
              </a:lnSpc>
            </a:pPr>
            <a:r>
              <a:rPr lang="en-US" b="true" sz="5568" spc="111">
                <a:solidFill>
                  <a:srgbClr val="0E2954"/>
                </a:solidFill>
                <a:latin typeface="Arial Bold"/>
                <a:ea typeface="Arial Bold"/>
                <a:cs typeface="Arial Bold"/>
                <a:sym typeface="Arial Bold"/>
              </a:rPr>
              <a:t>CODE TEST CỦA NHÓM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32276" y="8551315"/>
            <a:ext cx="6105863" cy="814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2"/>
              </a:lnSpc>
            </a:pPr>
            <a:r>
              <a:rPr lang="en-US" b="true" sz="2250" spc="20">
                <a:solidFill>
                  <a:srgbClr val="0E2954"/>
                </a:solidFill>
                <a:latin typeface="Arial Bold"/>
                <a:ea typeface="Arial Bold"/>
                <a:cs typeface="Arial Bold"/>
                <a:sym typeface="Arial Bold"/>
              </a:rPr>
              <a:t>Xử lý Windows &amp; Explicit waits</a:t>
            </a:r>
          </a:p>
          <a:p>
            <a:pPr algn="ctr">
              <a:lnSpc>
                <a:spcPts val="3262"/>
              </a:lnSpc>
              <a:spcBef>
                <a:spcPct val="0"/>
              </a:spcBef>
            </a:pPr>
            <a:r>
              <a:rPr lang="en-US" b="true" sz="2250" spc="21">
                <a:solidFill>
                  <a:srgbClr val="0E2954"/>
                </a:solidFill>
                <a:latin typeface="Arial Bold"/>
                <a:ea typeface="Arial Bold"/>
                <a:cs typeface="Arial Bold"/>
                <a:sym typeface="Arial Bold"/>
              </a:rPr>
              <a:t>(Windows and frames &amp; Explicit Waits)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78436" y="7689331"/>
            <a:ext cx="7811335" cy="814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2"/>
              </a:lnSpc>
            </a:pPr>
            <a:r>
              <a:rPr lang="en-US" b="true" sz="2250" spc="20">
                <a:solidFill>
                  <a:srgbClr val="0E2954"/>
                </a:solidFill>
                <a:latin typeface="Arial Bold"/>
                <a:ea typeface="Arial Bold"/>
                <a:cs typeface="Arial Bold"/>
                <a:sym typeface="Arial Bold"/>
              </a:rPr>
              <a:t>Xử lý Frames</a:t>
            </a:r>
          </a:p>
          <a:p>
            <a:pPr algn="ctr">
              <a:lnSpc>
                <a:spcPts val="3262"/>
              </a:lnSpc>
              <a:spcBef>
                <a:spcPct val="0"/>
              </a:spcBef>
            </a:pPr>
            <a:r>
              <a:rPr lang="en-US" b="true" sz="2250" spc="21">
                <a:solidFill>
                  <a:srgbClr val="0E2954"/>
                </a:solidFill>
                <a:latin typeface="Arial Bold"/>
                <a:ea typeface="Arial Bold"/>
                <a:cs typeface="Arial Bold"/>
                <a:sym typeface="Arial Bold"/>
              </a:rPr>
              <a:t>(Windows and frames)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6574" y="1497682"/>
            <a:ext cx="8072096" cy="218640"/>
          </a:xfrm>
          <a:custGeom>
            <a:avLst/>
            <a:gdLst/>
            <a:ahLst/>
            <a:cxnLst/>
            <a:rect r="r" b="b" t="t" l="l"/>
            <a:pathLst>
              <a:path h="218640" w="8072096">
                <a:moveTo>
                  <a:pt x="0" y="0"/>
                </a:moveTo>
                <a:lnTo>
                  <a:pt x="8072096" y="0"/>
                </a:lnTo>
                <a:lnTo>
                  <a:pt x="8072096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059939"/>
            <a:ext cx="6993503" cy="6266580"/>
          </a:xfrm>
          <a:custGeom>
            <a:avLst/>
            <a:gdLst/>
            <a:ahLst/>
            <a:cxnLst/>
            <a:rect r="r" b="b" t="t" l="l"/>
            <a:pathLst>
              <a:path h="6266580" w="6993503">
                <a:moveTo>
                  <a:pt x="0" y="0"/>
                </a:moveTo>
                <a:lnTo>
                  <a:pt x="6993503" y="0"/>
                </a:lnTo>
                <a:lnTo>
                  <a:pt x="6993503" y="6266580"/>
                </a:lnTo>
                <a:lnTo>
                  <a:pt x="0" y="6266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2059939"/>
            <a:ext cx="7904424" cy="6342759"/>
          </a:xfrm>
          <a:custGeom>
            <a:avLst/>
            <a:gdLst/>
            <a:ahLst/>
            <a:cxnLst/>
            <a:rect r="r" b="b" t="t" l="l"/>
            <a:pathLst>
              <a:path h="6342759" w="7904424">
                <a:moveTo>
                  <a:pt x="0" y="0"/>
                </a:moveTo>
                <a:lnTo>
                  <a:pt x="7904424" y="0"/>
                </a:lnTo>
                <a:lnTo>
                  <a:pt x="7904424" y="6342760"/>
                </a:lnTo>
                <a:lnTo>
                  <a:pt x="0" y="63427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19678" y="516348"/>
            <a:ext cx="8931377" cy="86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3"/>
              </a:lnSpc>
            </a:pPr>
            <a:r>
              <a:rPr lang="en-US" b="true" sz="5568" spc="111">
                <a:solidFill>
                  <a:srgbClr val="0E2954"/>
                </a:solidFill>
                <a:latin typeface="Arial Bold"/>
                <a:ea typeface="Arial Bold"/>
                <a:cs typeface="Arial Bold"/>
                <a:sym typeface="Arial Bold"/>
              </a:rPr>
              <a:t>CODE TEST CỦA NHÓM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7806" y="8259844"/>
            <a:ext cx="8135291" cy="182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0"/>
              </a:lnSpc>
              <a:spcBef>
                <a:spcPct val="0"/>
              </a:spcBef>
            </a:pPr>
            <a:r>
              <a:rPr lang="en-US" b="true" sz="2592" spc="51">
                <a:solidFill>
                  <a:srgbClr val="0E2954"/>
                </a:solidFill>
                <a:latin typeface="Arial Bold"/>
                <a:ea typeface="Arial Bold"/>
                <a:cs typeface="Arial Bold"/>
                <a:sym typeface="Arial Bold"/>
              </a:rPr>
              <a:t>Kết hợp Wa</a:t>
            </a:r>
            <a:r>
              <a:rPr lang="en-US" b="true" sz="2592" spc="51">
                <a:solidFill>
                  <a:srgbClr val="0E2954"/>
                </a:solidFill>
                <a:latin typeface="Arial Bold"/>
                <a:ea typeface="Arial Bold"/>
                <a:cs typeface="Arial Bold"/>
                <a:sym typeface="Arial Bold"/>
              </a:rPr>
              <a:t>it và Frame</a:t>
            </a:r>
          </a:p>
          <a:p>
            <a:pPr algn="ctr">
              <a:lnSpc>
                <a:spcPts val="3630"/>
              </a:lnSpc>
              <a:spcBef>
                <a:spcPct val="0"/>
              </a:spcBef>
            </a:pPr>
            <a:r>
              <a:rPr lang="en-US" b="true" sz="2592" spc="51">
                <a:solidFill>
                  <a:srgbClr val="0E2954"/>
                </a:solidFill>
                <a:latin typeface="Arial Bold"/>
                <a:ea typeface="Arial Bold"/>
                <a:cs typeface="Arial Bold"/>
                <a:sym typeface="Arial Bold"/>
              </a:rPr>
              <a:t>(Windows and frames &amp; Explicit Waits)</a:t>
            </a:r>
          </a:p>
          <a:p>
            <a:pPr algn="ctr">
              <a:lnSpc>
                <a:spcPts val="3630"/>
              </a:lnSpc>
              <a:spcBef>
                <a:spcPct val="0"/>
              </a:spcBef>
            </a:pPr>
            <a:r>
              <a:rPr lang="en-US" b="true" sz="2592" spc="51">
                <a:solidFill>
                  <a:srgbClr val="0E2954"/>
                </a:solidFill>
                <a:latin typeface="Arial Bold"/>
                <a:ea typeface="Arial Bold"/>
                <a:cs typeface="Arial Bold"/>
                <a:sym typeface="Arial Bold"/>
              </a:rPr>
              <a:t>Lịch sử và điều hướng</a:t>
            </a:r>
          </a:p>
          <a:p>
            <a:pPr algn="ctr">
              <a:lnSpc>
                <a:spcPts val="3631"/>
              </a:lnSpc>
              <a:spcBef>
                <a:spcPct val="0"/>
              </a:spcBef>
            </a:pPr>
            <a:r>
              <a:rPr lang="en-US" b="true" sz="2592" spc="51">
                <a:solidFill>
                  <a:srgbClr val="0E2954"/>
                </a:solidFill>
                <a:latin typeface="Arial Bold"/>
                <a:ea typeface="Arial Bold"/>
                <a:cs typeface="Arial Bold"/>
                <a:sym typeface="Arial Bold"/>
              </a:rPr>
              <a:t>(History and location)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8590146"/>
            <a:ext cx="7904424" cy="915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0"/>
              </a:lnSpc>
              <a:spcBef>
                <a:spcPct val="0"/>
              </a:spcBef>
            </a:pPr>
            <a:r>
              <a:rPr lang="en-US" b="true" sz="2592" spc="51">
                <a:solidFill>
                  <a:srgbClr val="0E2954"/>
                </a:solidFill>
                <a:latin typeface="Arial Bold"/>
                <a:ea typeface="Arial Bold"/>
                <a:cs typeface="Arial Bold"/>
                <a:sym typeface="Arial Bold"/>
              </a:rPr>
              <a:t>Quản</a:t>
            </a:r>
            <a:r>
              <a:rPr lang="en-US" b="true" sz="2592" spc="51">
                <a:solidFill>
                  <a:srgbClr val="0E2954"/>
                </a:solidFill>
                <a:latin typeface="Arial Bold"/>
                <a:ea typeface="Arial Bold"/>
                <a:cs typeface="Arial Bold"/>
                <a:sym typeface="Arial Bold"/>
              </a:rPr>
              <a:t> lý Cookies</a:t>
            </a:r>
          </a:p>
          <a:p>
            <a:pPr algn="ctr">
              <a:lnSpc>
                <a:spcPts val="3630"/>
              </a:lnSpc>
              <a:spcBef>
                <a:spcPct val="0"/>
              </a:spcBef>
            </a:pPr>
            <a:r>
              <a:rPr lang="en-US" b="true" sz="2592" spc="51">
                <a:solidFill>
                  <a:srgbClr val="0E2954"/>
                </a:solidFill>
                <a:latin typeface="Arial Bold"/>
                <a:ea typeface="Arial Bold"/>
                <a:cs typeface="Arial Bold"/>
                <a:sym typeface="Arial Bold"/>
              </a:rPr>
              <a:t>Bắt lỗi (Exceptions)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6574" y="1497682"/>
            <a:ext cx="8072096" cy="218640"/>
          </a:xfrm>
          <a:custGeom>
            <a:avLst/>
            <a:gdLst/>
            <a:ahLst/>
            <a:cxnLst/>
            <a:rect r="r" b="b" t="t" l="l"/>
            <a:pathLst>
              <a:path h="218640" w="8072096">
                <a:moveTo>
                  <a:pt x="0" y="0"/>
                </a:moveTo>
                <a:lnTo>
                  <a:pt x="8072096" y="0"/>
                </a:lnTo>
                <a:lnTo>
                  <a:pt x="8072096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82658" y="2529056"/>
            <a:ext cx="12922685" cy="5794461"/>
          </a:xfrm>
          <a:custGeom>
            <a:avLst/>
            <a:gdLst/>
            <a:ahLst/>
            <a:cxnLst/>
            <a:rect r="r" b="b" t="t" l="l"/>
            <a:pathLst>
              <a:path h="5794461" w="12922685">
                <a:moveTo>
                  <a:pt x="0" y="0"/>
                </a:moveTo>
                <a:lnTo>
                  <a:pt x="12922684" y="0"/>
                </a:lnTo>
                <a:lnTo>
                  <a:pt x="12922684" y="5794460"/>
                </a:lnTo>
                <a:lnTo>
                  <a:pt x="0" y="57944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19678" y="516348"/>
            <a:ext cx="8931377" cy="86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83"/>
              </a:lnSpc>
            </a:pPr>
            <a:r>
              <a:rPr lang="en-US" b="true" sz="5568" spc="111">
                <a:solidFill>
                  <a:srgbClr val="0E2954"/>
                </a:solidFill>
                <a:latin typeface="Arial Bold"/>
                <a:ea typeface="Arial Bold"/>
                <a:cs typeface="Arial Bold"/>
                <a:sym typeface="Arial Bold"/>
              </a:rPr>
              <a:t>CODE TEST CỦA NHÓM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89713" y="8371141"/>
            <a:ext cx="12922685" cy="457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1"/>
              </a:lnSpc>
              <a:spcBef>
                <a:spcPct val="0"/>
              </a:spcBef>
            </a:pPr>
            <a:r>
              <a:rPr lang="en-US" b="true" sz="2592" spc="51">
                <a:solidFill>
                  <a:srgbClr val="0E2954"/>
                </a:solidFill>
                <a:latin typeface="Arial Bold"/>
                <a:ea typeface="Arial Bold"/>
                <a:cs typeface="Arial Bold"/>
                <a:sym typeface="Arial Bold"/>
              </a:rPr>
              <a:t>Rem</a:t>
            </a:r>
            <a:r>
              <a:rPr lang="en-US" b="true" sz="2592" spc="51">
                <a:solidFill>
                  <a:srgbClr val="0E2954"/>
                </a:solidFill>
                <a:latin typeface="Arial Bold"/>
                <a:ea typeface="Arial Bold"/>
                <a:cs typeface="Arial Bold"/>
                <a:sym typeface="Arial Bold"/>
              </a:rPr>
              <a:t>ote WebDriver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0487" y="747107"/>
            <a:ext cx="10045595" cy="686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4"/>
              </a:lnSpc>
            </a:pPr>
            <a:r>
              <a:rPr lang="en-US" sz="5044" b="true">
                <a:solidFill>
                  <a:srgbClr val="0E2346"/>
                </a:solidFill>
                <a:latin typeface="Arial Bold"/>
                <a:ea typeface="Arial Bold"/>
                <a:cs typeface="Arial Bold"/>
                <a:sym typeface="Arial Bold"/>
              </a:rPr>
              <a:t>FRAME LỒNG NHAU – MỤC 3.4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1497682"/>
            <a:ext cx="8072096" cy="437279"/>
          </a:xfrm>
          <a:custGeom>
            <a:avLst/>
            <a:gdLst/>
            <a:ahLst/>
            <a:cxnLst/>
            <a:rect r="r" b="b" t="t" l="l"/>
            <a:pathLst>
              <a:path h="437279" w="8072096">
                <a:moveTo>
                  <a:pt x="0" y="0"/>
                </a:moveTo>
                <a:lnTo>
                  <a:pt x="8072096" y="0"/>
                </a:lnTo>
                <a:lnTo>
                  <a:pt x="807209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60680" y="4169101"/>
            <a:ext cx="15741849" cy="2755109"/>
          </a:xfrm>
          <a:custGeom>
            <a:avLst/>
            <a:gdLst/>
            <a:ahLst/>
            <a:cxnLst/>
            <a:rect r="r" b="b" t="t" l="l"/>
            <a:pathLst>
              <a:path h="2755109" w="15741849">
                <a:moveTo>
                  <a:pt x="0" y="0"/>
                </a:moveTo>
                <a:lnTo>
                  <a:pt x="15741850" y="0"/>
                </a:lnTo>
                <a:lnTo>
                  <a:pt x="15741850" y="2755109"/>
                </a:lnTo>
                <a:lnTo>
                  <a:pt x="0" y="27551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89462" y="2732405"/>
            <a:ext cx="3244377" cy="560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4"/>
              </a:lnSpc>
              <a:spcBef>
                <a:spcPct val="0"/>
              </a:spcBef>
            </a:pPr>
            <a:r>
              <a:rPr lang="en-US" sz="3209" spc="6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Kết quả chạy thử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1F1F1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F1F1F1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24318" y="-7273107"/>
            <a:ext cx="10887150" cy="15420090"/>
          </a:xfrm>
          <a:custGeom>
            <a:avLst/>
            <a:gdLst/>
            <a:ahLst/>
            <a:cxnLst/>
            <a:rect r="r" b="b" t="t" l="l"/>
            <a:pathLst>
              <a:path h="15420090" w="10887150">
                <a:moveTo>
                  <a:pt x="0" y="0"/>
                </a:moveTo>
                <a:lnTo>
                  <a:pt x="10887150" y="0"/>
                </a:lnTo>
                <a:lnTo>
                  <a:pt x="10887150" y="15420089"/>
                </a:lnTo>
                <a:lnTo>
                  <a:pt x="0" y="154200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675130">
            <a:off x="-6386631" y="4285641"/>
            <a:ext cx="7797546" cy="8229600"/>
          </a:xfrm>
          <a:custGeom>
            <a:avLst/>
            <a:gdLst/>
            <a:ahLst/>
            <a:cxnLst/>
            <a:rect r="r" b="b" t="t" l="l"/>
            <a:pathLst>
              <a:path h="8229600" w="7797546">
                <a:moveTo>
                  <a:pt x="0" y="0"/>
                </a:moveTo>
                <a:lnTo>
                  <a:pt x="7797546" y="0"/>
                </a:lnTo>
                <a:lnTo>
                  <a:pt x="779754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19200" y="2965528"/>
            <a:ext cx="11013574" cy="2619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2"/>
              </a:lnSpc>
            </a:pPr>
            <a:r>
              <a:rPr lang="en-US" sz="7502" spc="-450">
                <a:gradFill>
                  <a:gsLst>
                    <a:gs pos="0">
                      <a:srgbClr val="8F8F8F">
                        <a:alpha val="100000"/>
                      </a:srgbClr>
                    </a:gs>
                    <a:gs pos="33333">
                      <a:srgbClr val="000000">
                        <a:alpha val="100000"/>
                      </a:srgbClr>
                    </a:gs>
                    <a:gs pos="66667">
                      <a:srgbClr val="000000">
                        <a:alpha val="100000"/>
                      </a:srgbClr>
                    </a:gs>
                    <a:gs pos="100000">
                      <a:srgbClr val="8F8F8F">
                        <a:alpha val="100000"/>
                      </a:srgbClr>
                    </a:gs>
                  </a:gsLst>
                  <a:lin ang="2700000"/>
                </a:gradFill>
                <a:latin typeface="Open Sauce"/>
                <a:ea typeface="Open Sauce"/>
                <a:cs typeface="Open Sauce"/>
                <a:sym typeface="Open Sauce"/>
              </a:rPr>
              <a:t>Cảm ơn cô và các bạn đã lắng nghe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49039" y="5778579"/>
            <a:ext cx="992691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 spc="240">
                <a:gradFill>
                  <a:gsLst>
                    <a:gs pos="0">
                      <a:srgbClr val="4B91E5">
                        <a:alpha val="100000"/>
                      </a:srgbClr>
                    </a:gs>
                    <a:gs pos="33333">
                      <a:srgbClr val="4B91E5">
                        <a:alpha val="100000"/>
                      </a:srgbClr>
                    </a:gs>
                    <a:gs pos="66667">
                      <a:srgbClr val="3FAECB">
                        <a:alpha val="100000"/>
                      </a:srgbClr>
                    </a:gs>
                    <a:gs pos="100000">
                      <a:srgbClr val="41C4AB">
                        <a:alpha val="100000"/>
                      </a:srgbClr>
                    </a:gs>
                  </a:gsLst>
                  <a:lin ang="27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THANK YOU FOR LISTENING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DAHYmRg7vGQ</dc:identifier>
  <dcterms:modified xsi:type="dcterms:W3CDTF">2011-08-01T06:04:30Z</dcterms:modified>
  <cp:revision>1</cp:revision>
</cp:coreProperties>
</file>